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60" r:id="rId7"/>
    <p:sldId id="259" r:id="rId8"/>
    <p:sldId id="261" r:id="rId9"/>
    <p:sldId id="262" r:id="rId10"/>
    <p:sldId id="263" r:id="rId11"/>
    <p:sldId id="258" r:id="rId12"/>
    <p:sldId id="266" r:id="rId13"/>
    <p:sldId id="267" r:id="rId14"/>
    <p:sldId id="264" r:id="rId15"/>
    <p:sldId id="265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EF1FCE-671E-2D3E-D7C4-D33094EC0BA0}" v="145" dt="2026-04-14T22:14:43.919"/>
    <p1510:client id="{4B1657A0-7F9D-4481-BC6A-BD4D173B9C67}" v="5" dt="2026-04-14T14:46:02.364"/>
    <p1510:client id="{62CDE31E-2C6A-EB19-9E59-42592899A2F7}" v="338" dt="2026-04-14T20:45:52.706"/>
    <p1510:client id="{EB445C97-5035-DF45-A4CF-E784822BC140}" v="1235" dt="2026-04-14T15:30:19.3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6786D-0DD6-4548-9025-8F3EEAC70B60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602B97-78FF-9D49-BD79-7167099C01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789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295554-7CEF-C125-330D-21BC25BDA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2CDD82-9D8E-D7F9-8E98-4C721B8DC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7C14C2-FCA2-8927-076C-F62E5AF13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24.06.2026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148D90-461F-0AD4-BD8F-47FE8DFE8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FA1C39-108A-A731-1B74-844AF0EC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59652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11B3B7-B165-6FF2-16BE-EA6FAD588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4C0F54-B5E9-3AB2-EB8F-E92462CC3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D24193-3B2E-04FF-4734-AA9918D82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24.06.2026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A3BE9E-B6A3-B30F-FFD3-AAFF98436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A803F9-1E87-E8A4-388F-0110949E4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73755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55AE26-CB62-DB1B-6572-9DBCB3526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E4C988-A4A1-4FE2-0A36-F2308F756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53CE47-9A28-7222-00CC-CA48C6957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24.06.2026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575E87-FD9B-72D2-23D6-74014590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D8FE94-F7B8-D5C5-9F89-0948D1F3A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87524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2A60F6-CA60-5697-ABCE-B96C0584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C2CCBF-769C-5DC6-676C-95F9C6D0A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821E53-819D-5276-76F3-0EA96869D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AD254E-7301-EF6D-24D7-4D88B0A8D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24.06.2026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4E31F3F-597E-963E-1455-FA49BA19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AEE992-2C32-C725-9C9D-235F9737A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10691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E2CAAE-0A95-442C-4A28-6F1351FB4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9EBB46-8D80-A8C2-B2DA-039FBF2C2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7157CF1-E4CD-0525-2C4D-6D060251D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E9F136C-FD79-9D33-06B0-E6CDFC8B7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3CF46DD-B2BE-86F5-C138-43EA54296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D6FE579-D462-7414-CCFE-223A28024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24.06.2026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1E839FF-0CBC-14A1-5803-D17686BF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36BB022-C441-2670-ECF4-E2778523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63656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7DB531-DB7E-7B14-1FE8-EAFD669F2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121172-B237-3F2C-8B74-1FD762494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24.06.2026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1A06121-FF2D-86B5-764E-D0A40F51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F2AA55-396B-B020-A2E9-757E7B1C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92700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5BC7B6F-ADA4-2923-B606-EFC74A450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24.06.2026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2984419-3960-0462-F0EF-503E76636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0FC70E-DAAA-76E4-A4FC-3F6AFE460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12832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8ACE3D-8DB0-9BC8-CA30-F49FB773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CB285E-81F9-D31C-EADB-8B1FB8F7E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20E0D5E-4C07-5540-A2BD-BCB9A4C9F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7A56AE-F6CF-ED32-8116-5B5B491B5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24.06.2026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C088EB-C04C-0756-6584-208343B2F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30E936-C1D6-2D8D-1EB2-AA5861403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9029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23BDB9-5151-DF04-926B-B279B4CA3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7928B7-016A-E20A-3A20-53F0BFF83E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C5905C-D67D-BDEC-BF2D-6CA5BA5FE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E4B4D1-F59B-E60B-AD99-2BCC473A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24.06.2026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FC61FD8-5A23-4113-89A6-300920516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2595F6-39E4-4C17-3A03-01748ADD0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72346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56C5DE-2D12-EA4A-BEE4-8605A9940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EA9A583-7751-5B8A-BEDB-C65537BD9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F3D317-A8B2-BB51-51F3-0B900CA79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24.06.2026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9EBCEE-4292-2CD1-9A04-C6C94C343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AB6F8-5725-4FB7-45AC-B5D89545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30696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9FA1C69-B224-B22A-D577-C2FD9CE2F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AA4E383-E913-52F9-E8AF-2B0A7C839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19A5F0-377B-BCAB-B91E-6DC5C136E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24.06.2026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7DCED1-A571-43DA-BDEA-D01935E6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237A02-967B-827B-DC8F-E4A41705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0298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348838-D62E-2F92-1581-6F1184FE4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BCE3D7-1106-73F6-AE57-543143774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18C573-A54E-4CFE-B8AC-BE0C6D449A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28B84-4C74-46B6-BCE3-7481A539CFFB}" type="datetimeFigureOut">
              <a:rPr lang="de-AT" smtClean="0"/>
              <a:t>24.06.2026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08A0E2-423E-9256-8094-3553BB9984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4E522C-02A5-C505-31CE-E7299151D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50902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3E84BE2F-C43D-43D9-A96D-152600326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036" name="Color">
              <a:extLst>
                <a:ext uri="{FF2B5EF4-FFF2-40B4-BE49-F238E27FC236}">
                  <a16:creationId xmlns:a16="http://schemas.microsoft.com/office/drawing/2014/main" id="{E7400609-3385-4926-AD61-85A199F07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Color">
              <a:extLst>
                <a:ext uri="{FF2B5EF4-FFF2-40B4-BE49-F238E27FC236}">
                  <a16:creationId xmlns:a16="http://schemas.microsoft.com/office/drawing/2014/main" id="{9E9E1A20-C3CA-40B4-8D3A-3EAC12D69A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TUWien logo">
            <a:extLst>
              <a:ext uri="{FF2B5EF4-FFF2-40B4-BE49-F238E27FC236}">
                <a16:creationId xmlns:a16="http://schemas.microsoft.com/office/drawing/2014/main" id="{421A2D85-5607-F903-3AFA-F03A97EC8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8885" y="509772"/>
            <a:ext cx="1175559" cy="1175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72C7E1B7-AD7A-8124-DC87-016AA2029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644" y="854487"/>
            <a:ext cx="4879001" cy="2056468"/>
          </a:xfrm>
        </p:spPr>
        <p:txBody>
          <a:bodyPr anchor="b">
            <a:normAutofit/>
          </a:bodyPr>
          <a:lstStyle/>
          <a:p>
            <a:pPr algn="l"/>
            <a:r>
              <a:rPr lang="de-AT" dirty="0">
                <a:solidFill>
                  <a:schemeClr val="bg1"/>
                </a:solidFill>
              </a:rPr>
              <a:t>2D Plotter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7EFEE9-C431-633D-1A45-316386E1DA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644" y="3051222"/>
            <a:ext cx="4879001" cy="2495085"/>
          </a:xfrm>
        </p:spPr>
        <p:txBody>
          <a:bodyPr anchor="t">
            <a:normAutofit/>
          </a:bodyPr>
          <a:lstStyle/>
          <a:p>
            <a:pPr algn="l"/>
            <a:r>
              <a:rPr lang="de-AT" sz="2000" b="1">
                <a:solidFill>
                  <a:schemeClr val="bg1"/>
                </a:solidFill>
              </a:rPr>
              <a:t>Fachvertiefung Mechatronik &amp; Instrumentierung</a:t>
            </a:r>
          </a:p>
          <a:p>
            <a:pPr algn="l"/>
            <a:r>
              <a:rPr lang="de-AT" sz="2000" b="1">
                <a:solidFill>
                  <a:schemeClr val="bg1"/>
                </a:solidFill>
              </a:rPr>
              <a:t>369.013 SS2026</a:t>
            </a:r>
          </a:p>
          <a:p>
            <a:pPr algn="l"/>
            <a:endParaRPr lang="de-AT" sz="2000" b="1">
              <a:solidFill>
                <a:schemeClr val="bg1"/>
              </a:solidFill>
            </a:endParaRPr>
          </a:p>
          <a:p>
            <a:pPr algn="l"/>
            <a:r>
              <a:rPr lang="de-AT" sz="2000">
                <a:solidFill>
                  <a:schemeClr val="bg1"/>
                </a:solidFill>
              </a:rPr>
              <a:t>Darko </a:t>
            </a:r>
            <a:r>
              <a:rPr lang="de-AT" sz="2000" err="1">
                <a:solidFill>
                  <a:schemeClr val="bg1"/>
                </a:solidFill>
              </a:rPr>
              <a:t>Maletic</a:t>
            </a:r>
            <a:br>
              <a:rPr lang="de-AT" sz="2000">
                <a:solidFill>
                  <a:schemeClr val="bg1"/>
                </a:solidFill>
              </a:rPr>
            </a:br>
            <a:r>
              <a:rPr lang="de-AT" sz="2000">
                <a:solidFill>
                  <a:schemeClr val="bg1"/>
                </a:solidFill>
              </a:rPr>
              <a:t>Anton </a:t>
            </a:r>
            <a:r>
              <a:rPr lang="de-AT" sz="2000" err="1">
                <a:solidFill>
                  <a:schemeClr val="bg1"/>
                </a:solidFill>
              </a:rPr>
              <a:t>Krusenotto</a:t>
            </a:r>
            <a:br>
              <a:rPr lang="de-AT" sz="2000">
                <a:solidFill>
                  <a:schemeClr val="bg1"/>
                </a:solidFill>
              </a:rPr>
            </a:br>
            <a:r>
              <a:rPr lang="de-AT" sz="2000">
                <a:solidFill>
                  <a:schemeClr val="bg1"/>
                </a:solidFill>
              </a:rPr>
              <a:t>Heinrich Fuhrmann</a:t>
            </a:r>
          </a:p>
        </p:txBody>
      </p:sp>
    </p:spTree>
    <p:extLst>
      <p:ext uri="{BB962C8B-B14F-4D97-AF65-F5344CB8AC3E}">
        <p14:creationId xmlns:p14="http://schemas.microsoft.com/office/powerpoint/2010/main" val="894945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63AC6-8506-773C-C367-20B8FD57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Aufgabe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2A1A3E-9631-5561-CCC4-1760A9C11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7372149" cy="5029835"/>
          </a:xfrm>
        </p:spPr>
        <p:txBody>
          <a:bodyPr/>
          <a:lstStyle/>
          <a:p>
            <a:r>
              <a:rPr lang="de-AT" dirty="0"/>
              <a:t>Schreibmaschine für Text in Schreibschrift</a:t>
            </a:r>
          </a:p>
          <a:p>
            <a:r>
              <a:rPr lang="de-AT" dirty="0"/>
              <a:t>Text soll vom Computer aus gesendet werden</a:t>
            </a:r>
          </a:p>
          <a:p>
            <a:endParaRPr lang="de-AT" dirty="0"/>
          </a:p>
          <a:p>
            <a:r>
              <a:rPr lang="de-AT" dirty="0"/>
              <a:t>Mechanik</a:t>
            </a:r>
          </a:p>
          <a:p>
            <a:pPr lvl="1"/>
            <a:r>
              <a:rPr lang="de-AT" dirty="0"/>
              <a:t>2 bewegliche Achsen + 2 Stepper-Motoren</a:t>
            </a:r>
          </a:p>
          <a:p>
            <a:pPr lvl="1"/>
            <a:r>
              <a:rPr lang="de-AT" dirty="0"/>
              <a:t>Lorentz-Aktuator für Stift (heben &amp; senken)</a:t>
            </a:r>
          </a:p>
          <a:p>
            <a:pPr lvl="1"/>
            <a:endParaRPr lang="de-AT" dirty="0"/>
          </a:p>
          <a:p>
            <a:r>
              <a:rPr lang="de-AT" dirty="0"/>
              <a:t>Steuerung</a:t>
            </a:r>
          </a:p>
          <a:p>
            <a:pPr lvl="1"/>
            <a:r>
              <a:rPr lang="de-AT" dirty="0"/>
              <a:t>PWM-</a:t>
            </a:r>
            <a:r>
              <a:rPr lang="de-AT" dirty="0" err="1"/>
              <a:t>Microstepping</a:t>
            </a:r>
            <a:endParaRPr lang="de-AT" dirty="0"/>
          </a:p>
          <a:p>
            <a:pPr lvl="1"/>
            <a:r>
              <a:rPr lang="de-AT" dirty="0" err="1"/>
              <a:t>Homing</a:t>
            </a:r>
            <a:r>
              <a:rPr lang="de-AT" dirty="0"/>
              <a:t>-Sensoren, Stift-</a:t>
            </a:r>
            <a:r>
              <a:rPr lang="de-AT" dirty="0" err="1"/>
              <a:t>Aktuierung</a:t>
            </a:r>
            <a:endParaRPr lang="de-AT" dirty="0"/>
          </a:p>
          <a:p>
            <a:pPr lvl="1"/>
            <a:r>
              <a:rPr lang="de-AT" dirty="0"/>
              <a:t>USART-Verbindung</a:t>
            </a:r>
          </a:p>
          <a:p>
            <a:pPr lvl="1"/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A2120A3-0578-E491-0F5C-8F7730C92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757" y="1548043"/>
            <a:ext cx="3501300" cy="376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03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ine Metallhantel">
            <a:extLst>
              <a:ext uri="{FF2B5EF4-FFF2-40B4-BE49-F238E27FC236}">
                <a16:creationId xmlns:a16="http://schemas.microsoft.com/office/drawing/2014/main" id="{AB886E62-CAEE-1CB7-CC93-A51E284B0C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62" b="28940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D503296-AD3E-0C6D-DCC1-C5F05C991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Mechanik</a:t>
            </a:r>
          </a:p>
        </p:txBody>
      </p:sp>
    </p:spTree>
    <p:extLst>
      <p:ext uri="{BB962C8B-B14F-4D97-AF65-F5344CB8AC3E}">
        <p14:creationId xmlns:p14="http://schemas.microsoft.com/office/powerpoint/2010/main" val="1273005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797C94-B695-8633-C12D-38FF0368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de-AT" sz="4000" dirty="0"/>
              <a:t>Prototyp</a:t>
            </a:r>
            <a:endParaRPr lang="de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3D9F1C-858E-2D18-7995-D0EAD7050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anchor="ctr">
            <a:normAutofit/>
          </a:bodyPr>
          <a:lstStyle/>
          <a:p>
            <a:r>
              <a:rPr lang="de-AT" sz="2000" dirty="0"/>
              <a:t>Linearlager auf Alustangen</a:t>
            </a:r>
          </a:p>
          <a:p>
            <a:r>
              <a:rPr lang="de-AT" sz="2000" dirty="0"/>
              <a:t>3D-gedruckte Verbindungen</a:t>
            </a:r>
          </a:p>
          <a:p>
            <a:r>
              <a:rPr lang="de-AT" sz="2000" dirty="0"/>
              <a:t>H-Riemen </a:t>
            </a:r>
            <a:r>
              <a:rPr lang="de-AT" sz="2000" dirty="0">
                <a:sym typeface="Wingdings" panose="05000000000000000000" pitchFamily="2" charset="2"/>
              </a:rPr>
              <a:t> verbessert auf </a:t>
            </a:r>
            <a:r>
              <a:rPr lang="de-AT" sz="2000" dirty="0" err="1">
                <a:sym typeface="Wingdings" panose="05000000000000000000" pitchFamily="2" charset="2"/>
              </a:rPr>
              <a:t>CoreXY</a:t>
            </a:r>
            <a:r>
              <a:rPr lang="de-AT" sz="2000" dirty="0">
                <a:sym typeface="Wingdings" panose="05000000000000000000" pitchFamily="2" charset="2"/>
              </a:rPr>
              <a:t>-System</a:t>
            </a:r>
            <a:endParaRPr lang="de-DE" sz="20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88745B1-A376-3183-BD97-55A69155D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552" y="2421924"/>
            <a:ext cx="3488477" cy="3711146"/>
          </a:xfrm>
          <a:prstGeom prst="rect">
            <a:avLst/>
          </a:prstGeom>
        </p:spPr>
      </p:pic>
      <p:pic>
        <p:nvPicPr>
          <p:cNvPr id="6" name="VIDEO-2026-05-05-12-39-12">
            <a:hlinkClick r:id="" action="ppaction://media"/>
            <a:extLst>
              <a:ext uri="{FF2B5EF4-FFF2-40B4-BE49-F238E27FC236}">
                <a16:creationId xmlns:a16="http://schemas.microsoft.com/office/drawing/2014/main" id="{E7F69FF2-11A7-0D57-44A8-9BB3E03B200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198394" y="2824226"/>
            <a:ext cx="5167185" cy="290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87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4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C3F4D-B2F7-F9B3-B18B-F5DECA878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594"/>
            <a:ext cx="10515600" cy="1325563"/>
          </a:xfrm>
        </p:spPr>
        <p:txBody>
          <a:bodyPr/>
          <a:lstStyle/>
          <a:p>
            <a:r>
              <a:rPr lang="de-AT" dirty="0"/>
              <a:t>Motoren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CF3B9FDE-375F-D97E-6579-6EE1E2A108C9}"/>
              </a:ext>
            </a:extLst>
          </p:cNvPr>
          <p:cNvSpPr txBox="1">
            <a:spLocks/>
          </p:cNvSpPr>
          <p:nvPr/>
        </p:nvSpPr>
        <p:spPr>
          <a:xfrm>
            <a:off x="570087" y="1338494"/>
            <a:ext cx="10783713" cy="1837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sz="2400" dirty="0"/>
              <a:t>Stepper-Motor braucht viel Strom, um zu halten (&gt; 5A, Überhitzung!)</a:t>
            </a:r>
          </a:p>
          <a:p>
            <a:r>
              <a:rPr lang="de-AT" sz="2400" dirty="0"/>
              <a:t>Im </a:t>
            </a:r>
            <a:r>
              <a:rPr lang="de-AT" sz="2400" dirty="0" err="1"/>
              <a:t>Fullstep</a:t>
            </a:r>
            <a:r>
              <a:rPr lang="de-AT" sz="2400" dirty="0"/>
              <a:t>/</a:t>
            </a:r>
            <a:r>
              <a:rPr lang="de-AT" sz="2400" dirty="0" err="1"/>
              <a:t>Halfstep</a:t>
            </a:r>
            <a:r>
              <a:rPr lang="de-AT" sz="2400" dirty="0"/>
              <a:t>-Betrieb viele kleine „Zwischenhalte“, daher erster Versuch mit zusätzlicher Übersetzung</a:t>
            </a:r>
          </a:p>
          <a:p>
            <a:r>
              <a:rPr lang="de-AT" sz="2400" dirty="0"/>
              <a:t>Bonus: Mechanisches Spiel der Zahnräder „glättet“ die Bewegung</a:t>
            </a:r>
          </a:p>
          <a:p>
            <a:endParaRPr lang="de-AT" sz="240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7095B224-8CF1-4C1F-F79C-F8B4F21C9EFD}"/>
              </a:ext>
            </a:extLst>
          </p:cNvPr>
          <p:cNvSpPr txBox="1">
            <a:spLocks/>
          </p:cNvSpPr>
          <p:nvPr/>
        </p:nvSpPr>
        <p:spPr>
          <a:xfrm>
            <a:off x="3373421" y="4356675"/>
            <a:ext cx="6013687" cy="2836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de-AT" sz="2400" dirty="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B0B6BE33-2513-794D-FF6B-5F76CDEE8CCF}"/>
              </a:ext>
            </a:extLst>
          </p:cNvPr>
          <p:cNvGrpSpPr/>
          <p:nvPr/>
        </p:nvGrpSpPr>
        <p:grpSpPr>
          <a:xfrm>
            <a:off x="2446228" y="3259738"/>
            <a:ext cx="7031429" cy="3082299"/>
            <a:chOff x="877432" y="3429000"/>
            <a:chExt cx="6278521" cy="2752254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E39DD91B-C0FA-8F1F-5CA3-AF3B598C3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4622" y="4509425"/>
              <a:ext cx="2071331" cy="1671829"/>
            </a:xfrm>
            <a:prstGeom prst="rect">
              <a:avLst/>
            </a:prstGeom>
          </p:spPr>
        </p:pic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5AA9BB1A-8914-8DD7-D40E-400707C31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82" t="17973" r="12212" b="7364"/>
            <a:stretch>
              <a:fillRect/>
            </a:stretch>
          </p:blipFill>
          <p:spPr>
            <a:xfrm>
              <a:off x="877432" y="3429000"/>
              <a:ext cx="4065007" cy="2752254"/>
            </a:xfrm>
            <a:prstGeom prst="rect">
              <a:avLst/>
            </a:prstGeom>
          </p:spPr>
        </p:pic>
        <p:pic>
          <p:nvPicPr>
            <p:cNvPr id="17" name="Inhaltsplatzhalter 4">
              <a:extLst>
                <a:ext uri="{FF2B5EF4-FFF2-40B4-BE49-F238E27FC236}">
                  <a16:creationId xmlns:a16="http://schemas.microsoft.com/office/drawing/2014/main" id="{310FE4EF-CBC9-4C91-FB18-11A1DA2D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11" t="27724" r="16299" b="23912"/>
            <a:stretch>
              <a:fillRect/>
            </a:stretch>
          </p:blipFill>
          <p:spPr>
            <a:xfrm>
              <a:off x="5084622" y="3429000"/>
              <a:ext cx="2071331" cy="983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8905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F30FB-89ED-AB67-3EE4-D07B67C09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6E7566-5AC2-6301-B9B6-AC473C41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Motoren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8B731C2-64A0-2654-9AC5-FA4A51F0C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7" t="8636" r="17993" b="14974"/>
          <a:stretch>
            <a:fillRect/>
          </a:stretch>
        </p:blipFill>
        <p:spPr>
          <a:xfrm>
            <a:off x="6257732" y="3691773"/>
            <a:ext cx="1929789" cy="144734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89D6E9D-7844-D80E-E302-8678DF05F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646" y="2867975"/>
            <a:ext cx="2205300" cy="3094939"/>
          </a:xfrm>
          <a:prstGeom prst="rect">
            <a:avLst/>
          </a:prstGeom>
        </p:spPr>
      </p:pic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EFA0A719-A4B3-92BC-B378-A213C968243A}"/>
              </a:ext>
            </a:extLst>
          </p:cNvPr>
          <p:cNvSpPr txBox="1">
            <a:spLocks/>
          </p:cNvSpPr>
          <p:nvPr/>
        </p:nvSpPr>
        <p:spPr>
          <a:xfrm>
            <a:off x="586287" y="1549507"/>
            <a:ext cx="8888402" cy="951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sz="2400" dirty="0"/>
              <a:t>Mit PWM kann die gleiche Performance mit weniger Strom (~1A) erbracht werden, daher finales Produkt mit Direktantrieb</a:t>
            </a:r>
            <a:endParaRPr lang="de-DE" sz="2400" dirty="0"/>
          </a:p>
          <a:p>
            <a:pPr algn="r"/>
            <a:endParaRPr lang="de-AT" sz="2400" dirty="0"/>
          </a:p>
          <a:p>
            <a:endParaRPr lang="de-AT" sz="240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DB0B991-8BB4-91AB-BC5A-DBE0F8710019}"/>
              </a:ext>
            </a:extLst>
          </p:cNvPr>
          <p:cNvSpPr txBox="1">
            <a:spLocks/>
          </p:cNvSpPr>
          <p:nvPr/>
        </p:nvSpPr>
        <p:spPr>
          <a:xfrm>
            <a:off x="3373421" y="4356675"/>
            <a:ext cx="6013687" cy="2836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de-AT" sz="2400" dirty="0"/>
          </a:p>
        </p:txBody>
      </p:sp>
    </p:spTree>
    <p:extLst>
      <p:ext uri="{BB962C8B-B14F-4D97-AF65-F5344CB8AC3E}">
        <p14:creationId xmlns:p14="http://schemas.microsoft.com/office/powerpoint/2010/main" val="3744051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CD6CB5-D78F-057D-5C5A-1F62A427E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Stift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39D1A5-3A3E-224C-1EB3-DC9289E52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Hebelmechanismus schiebt Stifthalterung auf und ab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69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lektronisches Protoboard">
            <a:extLst>
              <a:ext uri="{FF2B5EF4-FFF2-40B4-BE49-F238E27FC236}">
                <a16:creationId xmlns:a16="http://schemas.microsoft.com/office/drawing/2014/main" id="{8DAE2A91-AB91-2CF5-6899-2A38CC516E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BB0CF0E-7C0C-A420-AC5B-EACCF55FD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 err="1">
                <a:solidFill>
                  <a:srgbClr val="FFFFFF"/>
                </a:solidFill>
              </a:rPr>
              <a:t>Steuerung</a:t>
            </a:r>
            <a:endParaRPr lang="en-US" sz="5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430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D6B950-5D88-4995-D348-B1F0473F6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4000" dirty="0"/>
              <a:t>Diskrete Lineare Bewegungen im </a:t>
            </a:r>
            <a:r>
              <a:rPr lang="de-AT" sz="4000" dirty="0" err="1"/>
              <a:t>CoreXY</a:t>
            </a:r>
            <a:r>
              <a:rPr lang="de-AT" sz="4000" dirty="0"/>
              <a:t>-System</a:t>
            </a:r>
            <a:endParaRPr lang="de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B22989-2003-14ED-AD25-6A5B0FD9E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6444" cy="4351338"/>
          </a:xfrm>
        </p:spPr>
        <p:txBody>
          <a:bodyPr/>
          <a:lstStyle/>
          <a:p>
            <a:r>
              <a:rPr lang="de-AT" dirty="0" err="1"/>
              <a:t>Bresenham</a:t>
            </a:r>
            <a:r>
              <a:rPr lang="de-AT" dirty="0"/>
              <a:t>-Algorithmus</a:t>
            </a:r>
            <a:endParaRPr lang="de-DE" dirty="0"/>
          </a:p>
        </p:txBody>
      </p:sp>
      <p:pic>
        <p:nvPicPr>
          <p:cNvPr id="5" name="Grafik 4" descr="The Bresenham Line-Drawing Algorithm">
            <a:extLst>
              <a:ext uri="{FF2B5EF4-FFF2-40B4-BE49-F238E27FC236}">
                <a16:creationId xmlns:a16="http://schemas.microsoft.com/office/drawing/2014/main" id="{6C772CE7-2181-F6A3-880C-F8A20FB94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022" y="2564789"/>
            <a:ext cx="3936733" cy="29770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1A5E11BE-E0E2-19BB-D495-09F1578C37F4}"/>
                  </a:ext>
                </a:extLst>
              </p:cNvPr>
              <p:cNvSpPr/>
              <p:nvPr/>
            </p:nvSpPr>
            <p:spPr>
              <a:xfrm>
                <a:off x="1498600" y="5640979"/>
                <a:ext cx="4013200" cy="11049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de-DE" dirty="0"/>
                  <a:t> … Steigung der Strecke</a:t>
                </a:r>
              </a:p>
              <a:p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de-DE" dirty="0"/>
                  <a:t> … Fehler</a:t>
                </a:r>
              </a:p>
            </p:txBody>
          </p:sp>
        </mc:Choice>
        <mc:Fallback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1A5E11BE-E0E2-19BB-D495-09F1578C37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00" y="5640979"/>
                <a:ext cx="4013200" cy="1104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rafik 9">
            <a:extLst>
              <a:ext uri="{FF2B5EF4-FFF2-40B4-BE49-F238E27FC236}">
                <a16:creationId xmlns:a16="http://schemas.microsoft.com/office/drawing/2014/main" id="{5A7897A7-EECC-F828-ECFD-7C344DA45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54151"/>
            <a:ext cx="4982270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10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450F67-FD7A-40FB-A006-2984B0E1E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92900" cy="3876675"/>
          </a:xfrm>
        </p:spPr>
        <p:txBody>
          <a:bodyPr/>
          <a:lstStyle/>
          <a:p>
            <a:r>
              <a:rPr lang="de-AT" dirty="0" err="1"/>
              <a:t>CoreXY</a:t>
            </a:r>
            <a:endParaRPr lang="de-AT" dirty="0"/>
          </a:p>
          <a:p>
            <a:pPr lvl="1"/>
            <a:r>
              <a:rPr lang="de-AT" dirty="0"/>
              <a:t>Zwei unabhängige Riemen (</a:t>
            </a:r>
            <a:r>
              <a:rPr lang="de-AT" dirty="0" err="1"/>
              <a:t>entkopplung</a:t>
            </a:r>
            <a:r>
              <a:rPr lang="de-AT" dirty="0"/>
              <a:t> der Achsen – Stabilität, weniger Scherspannung)</a:t>
            </a:r>
          </a:p>
          <a:p>
            <a:pPr lvl="1"/>
            <a:endParaRPr lang="de-AT" dirty="0"/>
          </a:p>
          <a:p>
            <a:r>
              <a:rPr lang="de-AT" dirty="0"/>
              <a:t>Bewegungsmodi</a:t>
            </a:r>
            <a:endParaRPr lang="de-DE" dirty="0"/>
          </a:p>
          <a:p>
            <a:endParaRPr lang="de-AT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1805F50F-19D7-D84B-C405-6E7678F44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AT" sz="4000" dirty="0"/>
              <a:t>Diskrete Lineare Bewegungen im </a:t>
            </a:r>
            <a:r>
              <a:rPr lang="de-AT" sz="4000" dirty="0" err="1"/>
              <a:t>CoreXY</a:t>
            </a:r>
            <a:r>
              <a:rPr lang="de-AT" sz="4000" dirty="0"/>
              <a:t>-System</a:t>
            </a:r>
            <a:endParaRPr lang="de-DE" sz="40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C85A57E-8C38-5150-7D37-9053718E7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0" y="2145721"/>
            <a:ext cx="3488477" cy="3711146"/>
          </a:xfrm>
          <a:prstGeom prst="rect">
            <a:avLst/>
          </a:prstGeom>
        </p:spPr>
      </p:pic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022C6273-97CF-7916-9399-FA3AF75C7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820100"/>
              </p:ext>
            </p:extLst>
          </p:nvPr>
        </p:nvGraphicFramePr>
        <p:xfrm>
          <a:off x="838200" y="4470400"/>
          <a:ext cx="6172200" cy="1651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161701307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4283370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Beide Motoren gleiche Richtung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Entlang Querachse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084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Beide Motoren entgegengesetzte Richtung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Entlang Längsachse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710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Ein Motor fest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Entlang Diagonale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225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72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E508F7-1079-930D-CB47-B22D6A974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PWM-</a:t>
            </a:r>
            <a:r>
              <a:rPr lang="de-AT" dirty="0" err="1"/>
              <a:t>Microstepping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9FAA24-9107-7484-265B-98FEAF7A4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4" name="Grafik 3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7993C58C-962D-0D40-9517-637B9B44C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723" y="3259797"/>
            <a:ext cx="7638553" cy="305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283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CBD773-C9C2-8D82-90CA-2D8CE4037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G-Code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07826A-D121-3DE7-A43C-42B587CB3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Standardisierter Code für geometrische Aufgaben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9421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50E57B6A70C2C4F81D4851A8035B316" ma:contentTypeVersion="3" ma:contentTypeDescription="Ein neues Dokument erstellen." ma:contentTypeScope="" ma:versionID="be10151afdfb1dbd3eef0288c2be050f">
  <xsd:schema xmlns:xsd="http://www.w3.org/2001/XMLSchema" xmlns:xs="http://www.w3.org/2001/XMLSchema" xmlns:p="http://schemas.microsoft.com/office/2006/metadata/properties" xmlns:ns3="f93473ae-9eff-406c-a52d-5d3c2355ce8c" targetNamespace="http://schemas.microsoft.com/office/2006/metadata/properties" ma:root="true" ma:fieldsID="0e15690149a34d63d374ed85ee08a1c4" ns3:_="">
    <xsd:import namespace="f93473ae-9eff-406c-a52d-5d3c2355ce8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3473ae-9eff-406c-a52d-5d3c2355ce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64DF94-724B-4B75-8145-498D4D3241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CAB7B9-D86B-4AD9-8AE3-C14628E49C68}">
  <ds:schemaRefs>
    <ds:schemaRef ds:uri="f93473ae-9eff-406c-a52d-5d3c2355ce8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7ED6835-442E-4300-95BD-189D3E25826D}">
  <ds:schemaRefs>
    <ds:schemaRef ds:uri="f93473ae-9eff-406c-a52d-5d3c2355ce8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Breitbild</PresentationFormat>
  <Paragraphs>49</Paragraphs>
  <Slides>12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Wingdings</vt:lpstr>
      <vt:lpstr>Office</vt:lpstr>
      <vt:lpstr>2D Plotter</vt:lpstr>
      <vt:lpstr>Aufgabe</vt:lpstr>
      <vt:lpstr>Mechanik</vt:lpstr>
      <vt:lpstr>Prototyp</vt:lpstr>
      <vt:lpstr>Motoren</vt:lpstr>
      <vt:lpstr>Motoren</vt:lpstr>
      <vt:lpstr>Stift</vt:lpstr>
      <vt:lpstr>Steuerung</vt:lpstr>
      <vt:lpstr>Diskrete Lineare Bewegungen im CoreXY-System</vt:lpstr>
      <vt:lpstr>Diskrete Lineare Bewegungen im CoreXY-System</vt:lpstr>
      <vt:lpstr>PWM-Microstepping</vt:lpstr>
      <vt:lpstr>G-Code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Heinrich Fuhrmann</dc:creator>
  <cp:lastModifiedBy>cagyos@sts2.onmicrosoft.com</cp:lastModifiedBy>
  <cp:revision>7</cp:revision>
  <dcterms:created xsi:type="dcterms:W3CDTF">2026-04-14T11:53:01Z</dcterms:created>
  <dcterms:modified xsi:type="dcterms:W3CDTF">2026-06-24T12:26:51Z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0x010100A50E57B6A70C2C4F81D4851A8035B316</vt:lpwstr>
  </property>
</Properties>
</file>