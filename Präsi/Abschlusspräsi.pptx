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7"/>
  </p:notesMasterIdLst>
  <p:sldIdLst>
    <p:sldId id="256" r:id="rId5"/>
    <p:sldId id="257" r:id="rId6"/>
    <p:sldId id="260" r:id="rId7"/>
    <p:sldId id="259" r:id="rId8"/>
    <p:sldId id="261" r:id="rId9"/>
    <p:sldId id="262" r:id="rId10"/>
    <p:sldId id="263" r:id="rId11"/>
    <p:sldId id="258" r:id="rId12"/>
    <p:sldId id="266" r:id="rId13"/>
    <p:sldId id="267" r:id="rId14"/>
    <p:sldId id="264" r:id="rId15"/>
    <p:sldId id="265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EF1FCE-671E-2D3E-D7C4-D33094EC0BA0}" v="145" dt="2026-04-14T22:14:43.919"/>
    <p1510:client id="{4B1657A0-7F9D-4481-BC6A-BD4D173B9C67}" v="5" dt="2026-04-14T14:46:02.364"/>
    <p1510:client id="{62CDE31E-2C6A-EB19-9E59-42592899A2F7}" v="338" dt="2026-04-14T20:45:52.706"/>
    <p1510:client id="{EB445C97-5035-DF45-A4CF-E784822BC140}" v="1235" dt="2026-04-14T15:30:19.35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06786D-0DD6-4548-9025-8F3EEAC70B60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602B97-78FF-9D49-BD79-7167099C01A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6789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295554-7CEF-C125-330D-21BC25BDAE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92CDD82-9D8E-D7F9-8E98-4C721B8DC6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17C14C2-FCA2-8927-076C-F62E5AF13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24.06.2026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148D90-461F-0AD4-BD8F-47FE8DFE8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0FA1C39-108A-A731-1B74-844AF0ECC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59652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11B3B7-B165-6FF2-16BE-EA6FAD588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4C0F54-B5E9-3AB2-EB8F-E92462CC3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DD24193-3B2E-04FF-4734-AA9918D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24.06.2026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A3BE9E-B6A3-B30F-FFD3-AAFF98436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5A803F9-1E87-E8A4-388F-0110949E4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737553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55AE26-CB62-DB1B-6572-9DBCB3526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BE4C988-A4A1-4FE2-0A36-F2308F7562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653CE47-9A28-7222-00CC-CA48C6957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24.06.2026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5575E87-FD9B-72D2-23D6-74014590D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ED8FE94-F7B8-D5C5-9F89-0948D1F3A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587524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2A60F6-CA60-5697-ABCE-B96C05846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C2CCBF-769C-5DC6-676C-95F9C6D0A1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4821E53-819D-5276-76F3-0EA96869D2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2AD254E-7301-EF6D-24D7-4D88B0A8D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24.06.2026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4E31F3F-597E-963E-1455-FA49BA199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2AEE992-2C32-C725-9C9D-235F9737A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910691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2CAAE-0A95-442C-4A28-6F1351FB4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29EBB46-8D80-A8C2-B2DA-039FBF2C2A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7157CF1-E4CD-0525-2C4D-6D060251D2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E9F136C-FD79-9D33-06B0-E6CDFC8B7C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3CF46DD-B2BE-86F5-C138-43EA542962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D6FE579-D462-7414-CCFE-223A28024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24.06.2026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1E839FF-0CBC-14A1-5803-D17686BF5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36BB022-C441-2670-ECF4-E2778523C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636562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7DB531-DB7E-7B14-1FE8-EAFD669F2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6121172-B237-3F2C-8B74-1FD762494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24.06.2026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1A06121-FF2D-86B5-764E-D0A40F515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F2AA55-396B-B020-A2E9-757E7B1C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92700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5BC7B6F-ADA4-2923-B606-EFC74A450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24.06.2026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2984419-3960-0462-F0EF-503E76636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0FC70E-DAAA-76E4-A4FC-3F6AFE460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12832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8ACE3D-8DB0-9BC8-CA30-F49FB7738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CB285E-81F9-D31C-EADB-8B1FB8F7E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20E0D5E-4C07-5540-A2BD-BCB9A4C9F5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57A56AE-F6CF-ED32-8116-5B5B491B5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24.06.2026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DC088EB-C04C-0756-6584-208343B2F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D30E936-C1D6-2D8D-1EB2-AA5861403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9029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23BDB9-5151-DF04-926B-B279B4CA3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7928B7-016A-E20A-3A20-53F0BFF83E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FC5905C-D67D-BDEC-BF2D-6CA5BA5FE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2E4B4D1-F59B-E60B-AD99-2BCC473A4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24.06.2026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C61FD8-5A23-4113-89A6-300920516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92595F6-39E4-4C17-3A03-01748ADD0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72346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56C5DE-2D12-EA4A-BEE4-8605A9940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EA9A583-7751-5B8A-BEDB-C65537BD9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F3D317-A8B2-BB51-51F3-0B900CA79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24.06.2026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9EBCEE-4292-2CD1-9A04-C6C94C343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AB6F8-5725-4FB7-45AC-B5D895451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30696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9FA1C69-B224-B22A-D577-C2FD9CE2F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AA4E383-E913-52F9-E8AF-2B0A7C8392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819A5F0-377B-BCAB-B91E-6DC5C136E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28B84-4C74-46B6-BCE3-7481A539CFFB}" type="datetimeFigureOut">
              <a:rPr lang="de-AT" smtClean="0"/>
              <a:t>24.06.2026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C7DCED1-A571-43DA-BDEA-D01935E63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237A02-967B-827B-DC8F-E4A417059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D68C6-C72A-49FF-8A4F-681FAD77E04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02981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348838-D62E-2F92-1581-6F1184FE4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BCE3D7-1106-73F6-AE57-5431437745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B18C573-A54E-4CFE-B8AC-BE0C6D449A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A28B84-4C74-46B6-BCE3-7481A539CFFB}" type="datetimeFigureOut">
              <a:rPr lang="de-AT" smtClean="0"/>
              <a:t>24.06.2026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08A0E2-423E-9256-8094-3553BB9984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4E522C-02A5-C505-31CE-E7299151D7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CD68C6-C72A-49FF-8A4F-681FAD77E04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550902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Color Cover">
            <a:extLst>
              <a:ext uri="{FF2B5EF4-FFF2-40B4-BE49-F238E27FC236}">
                <a16:creationId xmlns:a16="http://schemas.microsoft.com/office/drawing/2014/main" id="{8B2B1708-8CE4-4A20-94F5-55118AE2C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35" name="Group 1034">
            <a:extLst>
              <a:ext uri="{FF2B5EF4-FFF2-40B4-BE49-F238E27FC236}">
                <a16:creationId xmlns:a16="http://schemas.microsoft.com/office/drawing/2014/main" id="{3E84BE2F-C43D-43D9-A96D-1526003268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6064235" cy="6858000"/>
            <a:chOff x="651279" y="598259"/>
            <a:chExt cx="10889442" cy="5680742"/>
          </a:xfrm>
        </p:grpSpPr>
        <p:sp>
          <p:nvSpPr>
            <p:cNvPr id="1036" name="Color">
              <a:extLst>
                <a:ext uri="{FF2B5EF4-FFF2-40B4-BE49-F238E27FC236}">
                  <a16:creationId xmlns:a16="http://schemas.microsoft.com/office/drawing/2014/main" id="{E7400609-3385-4926-AD61-85A199F074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7" name="Color">
              <a:extLst>
                <a:ext uri="{FF2B5EF4-FFF2-40B4-BE49-F238E27FC236}">
                  <a16:creationId xmlns:a16="http://schemas.microsoft.com/office/drawing/2014/main" id="{9E9E1A20-C3CA-40B4-8D3A-3EAC12D69A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tx2">
                <a:lumMod val="10000"/>
                <a:lumOff val="90000"/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26" name="Picture 2" descr="TUWien logo">
            <a:extLst>
              <a:ext uri="{FF2B5EF4-FFF2-40B4-BE49-F238E27FC236}">
                <a16:creationId xmlns:a16="http://schemas.microsoft.com/office/drawing/2014/main" id="{421A2D85-5607-F903-3AFA-F03A97EC8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68885" y="509772"/>
            <a:ext cx="1175559" cy="1175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9" name="Group 1038">
            <a:extLst>
              <a:ext uri="{FF2B5EF4-FFF2-40B4-BE49-F238E27FC236}">
                <a16:creationId xmlns:a16="http://schemas.microsoft.com/office/drawing/2014/main" id="{E27AF472-EAE3-4572-AB69-B92BD10DBC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BF4DB9D2-6215-420C-874C-82EADF8C6C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1F003139-C97C-44FA-B139-32E4DFDCE9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E4DD6E-8CEA-45EE-B630-DBC22144D8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A4372F7F-AA3C-470B-AA61-7C35B7722C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34B605BF-D199-43DD-9328-E99F2ADFC6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E5D42A77-7336-4A35-8922-8098A16AA2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7401EE7D-B85D-4C10-AB8C-71884EFB1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72C7E1B7-AD7A-8124-DC87-016AA2029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2644" y="854487"/>
            <a:ext cx="4879001" cy="2056468"/>
          </a:xfrm>
        </p:spPr>
        <p:txBody>
          <a:bodyPr anchor="b">
            <a:normAutofit/>
          </a:bodyPr>
          <a:lstStyle/>
          <a:p>
            <a:pPr algn="l"/>
            <a:r>
              <a:rPr lang="de-AT" dirty="0">
                <a:solidFill>
                  <a:schemeClr val="bg1"/>
                </a:solidFill>
              </a:rPr>
              <a:t>2D Plotter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F7EFEE9-C431-633D-1A45-316386E1DA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2644" y="3051222"/>
            <a:ext cx="4879001" cy="2495085"/>
          </a:xfrm>
        </p:spPr>
        <p:txBody>
          <a:bodyPr anchor="t">
            <a:normAutofit/>
          </a:bodyPr>
          <a:lstStyle/>
          <a:p>
            <a:pPr algn="l"/>
            <a:r>
              <a:rPr lang="de-AT" sz="2000" b="1" dirty="0">
                <a:solidFill>
                  <a:schemeClr val="bg1"/>
                </a:solidFill>
              </a:rPr>
              <a:t>Fachvertiefung Mechatronik &amp; Instrumentierung</a:t>
            </a:r>
          </a:p>
          <a:p>
            <a:pPr algn="l"/>
            <a:r>
              <a:rPr lang="de-AT" sz="2000" b="1" dirty="0">
                <a:solidFill>
                  <a:schemeClr val="bg1"/>
                </a:solidFill>
              </a:rPr>
              <a:t>369.013 SS2026</a:t>
            </a:r>
          </a:p>
          <a:p>
            <a:pPr algn="l"/>
            <a:endParaRPr lang="de-AT" sz="2000" b="1" dirty="0">
              <a:solidFill>
                <a:schemeClr val="bg1"/>
              </a:solidFill>
            </a:endParaRPr>
          </a:p>
          <a:p>
            <a:pPr algn="l"/>
            <a:r>
              <a:rPr lang="de-AT" sz="2000" dirty="0">
                <a:solidFill>
                  <a:schemeClr val="bg1"/>
                </a:solidFill>
              </a:rPr>
              <a:t>Darko </a:t>
            </a:r>
            <a:r>
              <a:rPr lang="de-AT" sz="2000" dirty="0" err="1">
                <a:solidFill>
                  <a:schemeClr val="bg1"/>
                </a:solidFill>
              </a:rPr>
              <a:t>Maleti</a:t>
            </a:r>
            <a:r>
              <a:rPr lang="bs-Latn-BA" sz="2000" dirty="0">
                <a:solidFill>
                  <a:schemeClr val="bg1"/>
                </a:solidFill>
              </a:rPr>
              <a:t>ć</a:t>
            </a:r>
            <a:br>
              <a:rPr lang="de-AT" sz="2000" dirty="0">
                <a:solidFill>
                  <a:schemeClr val="bg1"/>
                </a:solidFill>
              </a:rPr>
            </a:br>
            <a:r>
              <a:rPr lang="de-AT" sz="2000" dirty="0">
                <a:solidFill>
                  <a:schemeClr val="bg1"/>
                </a:solidFill>
              </a:rPr>
              <a:t>Anton </a:t>
            </a:r>
            <a:r>
              <a:rPr lang="de-AT" sz="2000" dirty="0" err="1">
                <a:solidFill>
                  <a:schemeClr val="bg1"/>
                </a:solidFill>
              </a:rPr>
              <a:t>Krusenotto</a:t>
            </a:r>
            <a:br>
              <a:rPr lang="de-AT" sz="2000" dirty="0">
                <a:solidFill>
                  <a:schemeClr val="bg1"/>
                </a:solidFill>
              </a:rPr>
            </a:br>
            <a:r>
              <a:rPr lang="de-AT" sz="2000" dirty="0">
                <a:solidFill>
                  <a:schemeClr val="bg1"/>
                </a:solidFill>
              </a:rPr>
              <a:t>Heinrich Fuhrmann</a:t>
            </a:r>
          </a:p>
        </p:txBody>
      </p:sp>
    </p:spTree>
    <p:extLst>
      <p:ext uri="{BB962C8B-B14F-4D97-AF65-F5344CB8AC3E}">
        <p14:creationId xmlns:p14="http://schemas.microsoft.com/office/powerpoint/2010/main" val="894945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463AC6-8506-773C-C367-20B8FD578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Aufgabe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2A1A3E-9631-5561-CCC4-1760A9C11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3040"/>
            <a:ext cx="7372149" cy="5029835"/>
          </a:xfrm>
        </p:spPr>
        <p:txBody>
          <a:bodyPr/>
          <a:lstStyle/>
          <a:p>
            <a:r>
              <a:rPr lang="de-AT" dirty="0"/>
              <a:t>Schreibschrift schreiben</a:t>
            </a:r>
          </a:p>
          <a:p>
            <a:r>
              <a:rPr lang="de-AT" dirty="0"/>
              <a:t>Text soll vom Computer aus gesendet werden</a:t>
            </a:r>
          </a:p>
          <a:p>
            <a:endParaRPr lang="de-AT" dirty="0"/>
          </a:p>
          <a:p>
            <a:r>
              <a:rPr lang="de-AT" dirty="0"/>
              <a:t>Mechanik</a:t>
            </a:r>
          </a:p>
          <a:p>
            <a:pPr lvl="1"/>
            <a:r>
              <a:rPr lang="de-AT" dirty="0"/>
              <a:t>2 bewegliche Achsen + 2 Stepper-Motoren</a:t>
            </a:r>
          </a:p>
          <a:p>
            <a:pPr lvl="1"/>
            <a:r>
              <a:rPr lang="de-AT" dirty="0"/>
              <a:t>Lorentz-Aktuator für Stift (heben &amp; senken)</a:t>
            </a:r>
          </a:p>
          <a:p>
            <a:pPr lvl="1"/>
            <a:endParaRPr lang="de-AT" dirty="0"/>
          </a:p>
          <a:p>
            <a:r>
              <a:rPr lang="de-AT" dirty="0"/>
              <a:t>Steuerung</a:t>
            </a:r>
          </a:p>
          <a:p>
            <a:pPr lvl="1"/>
            <a:r>
              <a:rPr lang="de-AT" dirty="0"/>
              <a:t>PWM-</a:t>
            </a:r>
            <a:r>
              <a:rPr lang="de-AT" dirty="0" err="1"/>
              <a:t>Microstepping</a:t>
            </a:r>
            <a:endParaRPr lang="de-AT" dirty="0"/>
          </a:p>
          <a:p>
            <a:pPr lvl="1"/>
            <a:r>
              <a:rPr lang="de-AT" dirty="0" err="1"/>
              <a:t>Homing</a:t>
            </a:r>
            <a:r>
              <a:rPr lang="de-AT" dirty="0"/>
              <a:t>-Sensoren, Stift-</a:t>
            </a:r>
            <a:r>
              <a:rPr lang="de-AT" dirty="0" err="1"/>
              <a:t>Aktuierung</a:t>
            </a:r>
            <a:endParaRPr lang="de-AT" dirty="0"/>
          </a:p>
          <a:p>
            <a:pPr lvl="1"/>
            <a:r>
              <a:rPr lang="de-AT" dirty="0"/>
              <a:t>USART-Verbindung</a:t>
            </a:r>
          </a:p>
          <a:p>
            <a:pPr lvl="1"/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A2120A3-0578-E491-0F5C-8F7730C92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7757" y="1548043"/>
            <a:ext cx="3501300" cy="3761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003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Eine Metallhantel">
            <a:extLst>
              <a:ext uri="{FF2B5EF4-FFF2-40B4-BE49-F238E27FC236}">
                <a16:creationId xmlns:a16="http://schemas.microsoft.com/office/drawing/2014/main" id="{AB886E62-CAEE-1CB7-CC93-A51E284B0C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662" b="28940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D503296-AD3E-0C6D-DCC1-C5F05C991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Mechanik</a:t>
            </a:r>
          </a:p>
        </p:txBody>
      </p:sp>
    </p:spTree>
    <p:extLst>
      <p:ext uri="{BB962C8B-B14F-4D97-AF65-F5344CB8AC3E}">
        <p14:creationId xmlns:p14="http://schemas.microsoft.com/office/powerpoint/2010/main" val="12730052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761DDFE-071F-4200-B0AA-394476C2D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B797C94-B695-8633-C12D-38FF03680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547815"/>
            <a:ext cx="5167185" cy="1680519"/>
          </a:xfrm>
        </p:spPr>
        <p:txBody>
          <a:bodyPr>
            <a:normAutofit/>
          </a:bodyPr>
          <a:lstStyle/>
          <a:p>
            <a:r>
              <a:rPr lang="de-AT" sz="4000" dirty="0"/>
              <a:t>Prototyp</a:t>
            </a:r>
            <a:endParaRPr lang="de-DE" sz="40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3D9F1C-858E-2D18-7995-D0EAD7050D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86619" y="547815"/>
            <a:ext cx="5178960" cy="1680519"/>
          </a:xfrm>
        </p:spPr>
        <p:txBody>
          <a:bodyPr anchor="ctr">
            <a:normAutofit/>
          </a:bodyPr>
          <a:lstStyle/>
          <a:p>
            <a:r>
              <a:rPr lang="de-AT" sz="2000" dirty="0"/>
              <a:t>Linearlager auf Alustangen</a:t>
            </a:r>
          </a:p>
          <a:p>
            <a:r>
              <a:rPr lang="de-AT" sz="2000" dirty="0"/>
              <a:t>3D-gedruckte Verbindungen</a:t>
            </a:r>
          </a:p>
          <a:p>
            <a:r>
              <a:rPr lang="de-AT" sz="2000" dirty="0"/>
              <a:t>H-Riemen </a:t>
            </a:r>
            <a:r>
              <a:rPr lang="de-AT" sz="2000" dirty="0">
                <a:sym typeface="Wingdings" panose="05000000000000000000" pitchFamily="2" charset="2"/>
              </a:rPr>
              <a:t> verbessert auf </a:t>
            </a:r>
            <a:r>
              <a:rPr lang="de-AT" sz="2000" dirty="0" err="1">
                <a:sym typeface="Wingdings" panose="05000000000000000000" pitchFamily="2" charset="2"/>
              </a:rPr>
              <a:t>CoreXY</a:t>
            </a:r>
            <a:r>
              <a:rPr lang="de-AT" sz="2000" dirty="0">
                <a:sym typeface="Wingdings" panose="05000000000000000000" pitchFamily="2" charset="2"/>
              </a:rPr>
              <a:t>-System</a:t>
            </a:r>
            <a:endParaRPr lang="de-DE" sz="20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8745B1-A376-3183-BD97-55A69155D9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552" y="2421924"/>
            <a:ext cx="3488477" cy="3711146"/>
          </a:xfrm>
          <a:prstGeom prst="rect">
            <a:avLst/>
          </a:prstGeom>
        </p:spPr>
      </p:pic>
      <p:pic>
        <p:nvPicPr>
          <p:cNvPr id="6" name="VIDEO-2026-05-05-12-39-12">
            <a:hlinkClick r:id="" action="ppaction://media"/>
            <a:extLst>
              <a:ext uri="{FF2B5EF4-FFF2-40B4-BE49-F238E27FC236}">
                <a16:creationId xmlns:a16="http://schemas.microsoft.com/office/drawing/2014/main" id="{E7F69FF2-11A7-0D57-44A8-9BB3E03B200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198394" y="2824226"/>
            <a:ext cx="5167185" cy="2906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876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64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4C3F4D-B2F7-F9B3-B18B-F5DECA878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4594"/>
            <a:ext cx="10515600" cy="1325563"/>
          </a:xfrm>
        </p:spPr>
        <p:txBody>
          <a:bodyPr/>
          <a:lstStyle/>
          <a:p>
            <a:r>
              <a:rPr lang="de-AT" dirty="0"/>
              <a:t>Motoren</a:t>
            </a:r>
            <a:endParaRPr lang="de-DE" dirty="0"/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CF3B9FDE-375F-D97E-6579-6EE1E2A108C9}"/>
              </a:ext>
            </a:extLst>
          </p:cNvPr>
          <p:cNvSpPr txBox="1">
            <a:spLocks/>
          </p:cNvSpPr>
          <p:nvPr/>
        </p:nvSpPr>
        <p:spPr>
          <a:xfrm>
            <a:off x="570087" y="1338494"/>
            <a:ext cx="10783713" cy="18370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AT" sz="2400" dirty="0"/>
              <a:t>Stepper-Motor braucht viel Strom, um zu halten (&gt; 5A, Überhitzung!)</a:t>
            </a:r>
          </a:p>
          <a:p>
            <a:r>
              <a:rPr lang="de-AT" sz="2400" dirty="0"/>
              <a:t>Im </a:t>
            </a:r>
            <a:r>
              <a:rPr lang="de-AT" sz="2400" dirty="0" err="1"/>
              <a:t>Fullstep</a:t>
            </a:r>
            <a:r>
              <a:rPr lang="de-AT" sz="2400" dirty="0"/>
              <a:t>/</a:t>
            </a:r>
            <a:r>
              <a:rPr lang="de-AT" sz="2400" dirty="0" err="1"/>
              <a:t>Halfstep</a:t>
            </a:r>
            <a:r>
              <a:rPr lang="de-AT" sz="2400" dirty="0"/>
              <a:t>-Betrieb viele kleine „Zwischenhalte“, daher erster Versuch mit zusätzlicher Übersetzung</a:t>
            </a:r>
          </a:p>
          <a:p>
            <a:r>
              <a:rPr lang="de-AT" sz="2400" dirty="0"/>
              <a:t>Bonus: Mechanisches Spiel der Zahnräder „glättet“ die Bewegung</a:t>
            </a:r>
          </a:p>
          <a:p>
            <a:endParaRPr lang="de-AT" sz="2400" dirty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7095B224-8CF1-4C1F-F79C-F8B4F21C9EFD}"/>
              </a:ext>
            </a:extLst>
          </p:cNvPr>
          <p:cNvSpPr txBox="1">
            <a:spLocks/>
          </p:cNvSpPr>
          <p:nvPr/>
        </p:nvSpPr>
        <p:spPr>
          <a:xfrm>
            <a:off x="3373421" y="4356675"/>
            <a:ext cx="6013687" cy="2836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de-AT" sz="2400" dirty="0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B0B6BE33-2513-794D-FF6B-5F76CDEE8CCF}"/>
              </a:ext>
            </a:extLst>
          </p:cNvPr>
          <p:cNvGrpSpPr/>
          <p:nvPr/>
        </p:nvGrpSpPr>
        <p:grpSpPr>
          <a:xfrm>
            <a:off x="2446228" y="3259738"/>
            <a:ext cx="7031429" cy="3082299"/>
            <a:chOff x="877432" y="3429000"/>
            <a:chExt cx="6278521" cy="2752254"/>
          </a:xfrm>
        </p:grpSpPr>
        <p:pic>
          <p:nvPicPr>
            <p:cNvPr id="9" name="Grafik 8">
              <a:extLst>
                <a:ext uri="{FF2B5EF4-FFF2-40B4-BE49-F238E27FC236}">
                  <a16:creationId xmlns:a16="http://schemas.microsoft.com/office/drawing/2014/main" id="{E39DD91B-C0FA-8F1F-5CA3-AF3B598C3D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84622" y="4509425"/>
              <a:ext cx="2071331" cy="1671829"/>
            </a:xfrm>
            <a:prstGeom prst="rect">
              <a:avLst/>
            </a:prstGeom>
          </p:spPr>
        </p:pic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5AA9BB1A-8914-8DD7-D40E-400707C311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82" t="17973" r="12212" b="7364"/>
            <a:stretch>
              <a:fillRect/>
            </a:stretch>
          </p:blipFill>
          <p:spPr>
            <a:xfrm>
              <a:off x="877432" y="3429000"/>
              <a:ext cx="4065007" cy="2752254"/>
            </a:xfrm>
            <a:prstGeom prst="rect">
              <a:avLst/>
            </a:prstGeom>
          </p:spPr>
        </p:pic>
        <p:pic>
          <p:nvPicPr>
            <p:cNvPr id="17" name="Inhaltsplatzhalter 4">
              <a:extLst>
                <a:ext uri="{FF2B5EF4-FFF2-40B4-BE49-F238E27FC236}">
                  <a16:creationId xmlns:a16="http://schemas.microsoft.com/office/drawing/2014/main" id="{310FE4EF-CBC9-4C91-FB18-11A1DA2D4C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1" t="27724" r="16299" b="23912"/>
            <a:stretch>
              <a:fillRect/>
            </a:stretch>
          </p:blipFill>
          <p:spPr>
            <a:xfrm>
              <a:off x="5084622" y="3429000"/>
              <a:ext cx="2071331" cy="98355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089050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F30FB-89ED-AB67-3EE4-D07B67C09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6E7566-5AC2-6301-B9B6-AC473C411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Motoren</a:t>
            </a:r>
            <a:endParaRPr lang="de-DE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88B731C2-64A0-2654-9AC5-FA4A51F0C5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17" t="8636" r="17993" b="14974"/>
          <a:stretch>
            <a:fillRect/>
          </a:stretch>
        </p:blipFill>
        <p:spPr>
          <a:xfrm>
            <a:off x="6257732" y="3691773"/>
            <a:ext cx="1929789" cy="144734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289D6E9D-7844-D80E-E302-8678DF05F2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1646" y="2867975"/>
            <a:ext cx="2205300" cy="3094939"/>
          </a:xfrm>
          <a:prstGeom prst="rect">
            <a:avLst/>
          </a:prstGeom>
        </p:spPr>
      </p:pic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EFA0A719-A4B3-92BC-B378-A213C968243A}"/>
              </a:ext>
            </a:extLst>
          </p:cNvPr>
          <p:cNvSpPr txBox="1">
            <a:spLocks/>
          </p:cNvSpPr>
          <p:nvPr/>
        </p:nvSpPr>
        <p:spPr>
          <a:xfrm>
            <a:off x="586286" y="1549507"/>
            <a:ext cx="9142929" cy="9518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AT" sz="2400" dirty="0"/>
              <a:t>Mit PWM kann die gleiche Performance mit weniger Strom (~0,5A) erbracht werden, daher finales Produkt mit Direktantrieb</a:t>
            </a:r>
            <a:endParaRPr lang="de-DE" sz="2400" dirty="0"/>
          </a:p>
          <a:p>
            <a:pPr algn="r"/>
            <a:endParaRPr lang="de-AT" sz="2400" dirty="0"/>
          </a:p>
          <a:p>
            <a:endParaRPr lang="de-AT" sz="2400" dirty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DB0B991-8BB4-91AB-BC5A-DBE0F8710019}"/>
              </a:ext>
            </a:extLst>
          </p:cNvPr>
          <p:cNvSpPr txBox="1">
            <a:spLocks/>
          </p:cNvSpPr>
          <p:nvPr/>
        </p:nvSpPr>
        <p:spPr>
          <a:xfrm>
            <a:off x="3373421" y="4356675"/>
            <a:ext cx="6013687" cy="2836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de-AT" sz="2400" dirty="0"/>
          </a:p>
        </p:txBody>
      </p:sp>
    </p:spTree>
    <p:extLst>
      <p:ext uri="{BB962C8B-B14F-4D97-AF65-F5344CB8AC3E}">
        <p14:creationId xmlns:p14="http://schemas.microsoft.com/office/powerpoint/2010/main" val="37440514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CD6CB5-D78F-057D-5C5A-1F62A427E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Stift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39D1A5-3A3E-224C-1EB3-DC9289E52C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Hebelmechanismus schiebt Stifthalterung auf und ab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76999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Elektronisches Protoboard">
            <a:extLst>
              <a:ext uri="{FF2B5EF4-FFF2-40B4-BE49-F238E27FC236}">
                <a16:creationId xmlns:a16="http://schemas.microsoft.com/office/drawing/2014/main" id="{8DAE2A91-AB91-2CF5-6899-2A38CC516E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730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BB0CF0E-7C0C-A420-AC5B-EACCF55FD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dirty="0" err="1">
                <a:solidFill>
                  <a:srgbClr val="FFFFFF"/>
                </a:solidFill>
              </a:rPr>
              <a:t>Steuerung</a:t>
            </a:r>
            <a:endParaRPr lang="en-US" sz="5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64308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D6B950-5D88-4995-D348-B1F0473F6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sz="4000" dirty="0"/>
              <a:t>Diskrete Lineare Bewegungen im </a:t>
            </a:r>
            <a:r>
              <a:rPr lang="de-AT" sz="4000" dirty="0" err="1"/>
              <a:t>CoreXY</a:t>
            </a:r>
            <a:r>
              <a:rPr lang="de-AT" sz="4000" dirty="0"/>
              <a:t>-System</a:t>
            </a:r>
            <a:endParaRPr lang="de-DE" sz="40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B22989-2003-14ED-AD25-6A5B0FD9E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36444" cy="4351338"/>
          </a:xfrm>
        </p:spPr>
        <p:txBody>
          <a:bodyPr/>
          <a:lstStyle/>
          <a:p>
            <a:r>
              <a:rPr lang="de-AT" dirty="0" err="1"/>
              <a:t>Bresenham</a:t>
            </a:r>
            <a:r>
              <a:rPr lang="de-AT" dirty="0"/>
              <a:t>-Algorithmus</a:t>
            </a:r>
            <a:endParaRPr lang="de-DE" dirty="0"/>
          </a:p>
        </p:txBody>
      </p:sp>
      <p:pic>
        <p:nvPicPr>
          <p:cNvPr id="5" name="Grafik 4" descr="The Bresenham Line-Drawing Algorithm">
            <a:extLst>
              <a:ext uri="{FF2B5EF4-FFF2-40B4-BE49-F238E27FC236}">
                <a16:creationId xmlns:a16="http://schemas.microsoft.com/office/drawing/2014/main" id="{6C772CE7-2181-F6A3-880C-F8A20FB949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022" y="2564789"/>
            <a:ext cx="3936733" cy="29770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1A5E11BE-E0E2-19BB-D495-09F1578C37F4}"/>
                  </a:ext>
                </a:extLst>
              </p:cNvPr>
              <p:cNvSpPr/>
              <p:nvPr/>
            </p:nvSpPr>
            <p:spPr>
              <a:xfrm>
                <a:off x="1498600" y="5640979"/>
                <a:ext cx="4013200" cy="11049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de-AT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de-A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de-AT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A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de-DE" dirty="0"/>
                  <a:t> … Steigung der Strecke</a:t>
                </a:r>
              </a:p>
              <a:p>
                <a14:m>
                  <m:oMath xmlns:m="http://schemas.openxmlformats.org/officeDocument/2006/math">
                    <m:r>
                      <a:rPr lang="de-AT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de-DE" dirty="0"/>
                  <a:t> … Fehler</a:t>
                </a:r>
              </a:p>
            </p:txBody>
          </p:sp>
        </mc:Choice>
        <mc:Fallback xmlns=""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1A5E11BE-E0E2-19BB-D495-09F1578C37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8600" y="5640979"/>
                <a:ext cx="4013200" cy="11049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Grafik 9">
            <a:extLst>
              <a:ext uri="{FF2B5EF4-FFF2-40B4-BE49-F238E27FC236}">
                <a16:creationId xmlns:a16="http://schemas.microsoft.com/office/drawing/2014/main" id="{5A7897A7-EECC-F828-ECFD-7C344DA453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554151"/>
            <a:ext cx="4982270" cy="195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210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450F67-FD7A-40FB-A006-2984B0E1EF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92900" cy="3876675"/>
          </a:xfrm>
        </p:spPr>
        <p:txBody>
          <a:bodyPr/>
          <a:lstStyle/>
          <a:p>
            <a:r>
              <a:rPr lang="de-AT" dirty="0" err="1"/>
              <a:t>CoreXY</a:t>
            </a:r>
            <a:endParaRPr lang="de-AT" dirty="0"/>
          </a:p>
          <a:p>
            <a:pPr lvl="1"/>
            <a:r>
              <a:rPr lang="de-AT" dirty="0"/>
              <a:t>Zwei unabhängige Riemen (</a:t>
            </a:r>
            <a:r>
              <a:rPr lang="de-AT" dirty="0" err="1"/>
              <a:t>entkopplung</a:t>
            </a:r>
            <a:r>
              <a:rPr lang="de-AT" dirty="0"/>
              <a:t> der Achsen – Stabilität, weniger Scherspannung)</a:t>
            </a:r>
          </a:p>
          <a:p>
            <a:pPr lvl="1"/>
            <a:endParaRPr lang="de-AT" dirty="0"/>
          </a:p>
          <a:p>
            <a:r>
              <a:rPr lang="de-AT" dirty="0"/>
              <a:t>Bewegungsmodi</a:t>
            </a:r>
            <a:endParaRPr lang="de-DE" dirty="0"/>
          </a:p>
          <a:p>
            <a:endParaRPr lang="de-AT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1805F50F-19D7-D84B-C405-6E7678F44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AT" sz="4000" dirty="0"/>
              <a:t>Diskrete Lineare Bewegungen im </a:t>
            </a:r>
            <a:r>
              <a:rPr lang="de-AT" sz="4000" dirty="0" err="1"/>
              <a:t>CoreXY</a:t>
            </a:r>
            <a:r>
              <a:rPr lang="de-AT" sz="4000" dirty="0"/>
              <a:t>-System</a:t>
            </a:r>
            <a:endParaRPr lang="de-DE" sz="40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C85A57E-8C38-5150-7D37-9053718E7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100" y="2145721"/>
            <a:ext cx="3488477" cy="3711146"/>
          </a:xfrm>
          <a:prstGeom prst="rect">
            <a:avLst/>
          </a:prstGeom>
        </p:spPr>
      </p:pic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022C6273-97CF-7916-9399-FA3AF75C72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2820100"/>
              </p:ext>
            </p:extLst>
          </p:nvPr>
        </p:nvGraphicFramePr>
        <p:xfrm>
          <a:off x="838200" y="4470400"/>
          <a:ext cx="6172200" cy="165100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3086100">
                  <a:extLst>
                    <a:ext uri="{9D8B030D-6E8A-4147-A177-3AD203B41FA5}">
                      <a16:colId xmlns:a16="http://schemas.microsoft.com/office/drawing/2014/main" val="161701307"/>
                    </a:ext>
                  </a:extLst>
                </a:gridCol>
                <a:gridCol w="3086100">
                  <a:extLst>
                    <a:ext uri="{9D8B030D-6E8A-4147-A177-3AD203B41FA5}">
                      <a16:colId xmlns:a16="http://schemas.microsoft.com/office/drawing/2014/main" val="42833709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AT" dirty="0"/>
                        <a:t>Beide Motoren gleiche Richtung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Entlang Querachse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1084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AT" dirty="0"/>
                        <a:t>Beide Motoren entgegengesetzte Richtung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Entlang Längsachse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9710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AT" dirty="0"/>
                        <a:t>Ein Motor fest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Entlang Diagonale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72259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8724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E508F7-1079-930D-CB47-B22D6A974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PWM-</a:t>
            </a:r>
            <a:r>
              <a:rPr lang="de-AT" dirty="0" err="1"/>
              <a:t>Microstepping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79FAA24-9107-7484-265B-98FEAF7A46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pic>
        <p:nvPicPr>
          <p:cNvPr id="4" name="Grafik 3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7993C58C-962D-0D40-9517-637B9B44C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723" y="3259797"/>
            <a:ext cx="7638553" cy="305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2835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CBD773-C9C2-8D82-90CA-2D8CE4037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G-Code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07826A-D121-3DE7-A43C-42B587CB3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Standardisierter Code für geometrische Aufgaben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9421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50E57B6A70C2C4F81D4851A8035B316" ma:contentTypeVersion="3" ma:contentTypeDescription="Ein neues Dokument erstellen." ma:contentTypeScope="" ma:versionID="be10151afdfb1dbd3eef0288c2be050f">
  <xsd:schema xmlns:xsd="http://www.w3.org/2001/XMLSchema" xmlns:xs="http://www.w3.org/2001/XMLSchema" xmlns:p="http://schemas.microsoft.com/office/2006/metadata/properties" xmlns:ns3="f93473ae-9eff-406c-a52d-5d3c2355ce8c" targetNamespace="http://schemas.microsoft.com/office/2006/metadata/properties" ma:root="true" ma:fieldsID="0e15690149a34d63d374ed85ee08a1c4" ns3:_="">
    <xsd:import namespace="f93473ae-9eff-406c-a52d-5d3c2355ce8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3473ae-9eff-406c-a52d-5d3c2355ce8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ACAB7B9-D86B-4AD9-8AE3-C14628E49C68}">
  <ds:schemaRefs>
    <ds:schemaRef ds:uri="f93473ae-9eff-406c-a52d-5d3c2355ce8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F64DF94-724B-4B75-8145-498D4D3241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7ED6835-442E-4300-95BD-189D3E25826D}">
  <ds:schemaRefs>
    <ds:schemaRef ds:uri="f93473ae-9eff-406c-a52d-5d3c2355ce8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191</Words>
  <Application>Microsoft Office PowerPoint</Application>
  <PresentationFormat>Široki zaslon</PresentationFormat>
  <Paragraphs>49</Paragraphs>
  <Slides>12</Slides>
  <Notes>0</Notes>
  <HiddenSlides>0</HiddenSlides>
  <MMClips>1</MMClips>
  <ScaleCrop>false</ScaleCrop>
  <HeadingPairs>
    <vt:vector size="6" baseType="variant">
      <vt:variant>
        <vt:lpstr>Korišteni fontovi</vt:lpstr>
      </vt:variant>
      <vt:variant>
        <vt:i4>5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Wingdings</vt:lpstr>
      <vt:lpstr>Office</vt:lpstr>
      <vt:lpstr>2D Plotter</vt:lpstr>
      <vt:lpstr>Aufgabe</vt:lpstr>
      <vt:lpstr>Mechanik</vt:lpstr>
      <vt:lpstr>Prototyp</vt:lpstr>
      <vt:lpstr>Motoren</vt:lpstr>
      <vt:lpstr>Motoren</vt:lpstr>
      <vt:lpstr>Stift</vt:lpstr>
      <vt:lpstr>Steuerung</vt:lpstr>
      <vt:lpstr>Diskrete Lineare Bewegungen im CoreXY-System</vt:lpstr>
      <vt:lpstr>Diskrete Lineare Bewegungen im CoreXY-System</vt:lpstr>
      <vt:lpstr>PWM-Microstepping</vt:lpstr>
      <vt:lpstr>G-Code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Heinrich Fuhrmann</dc:creator>
  <cp:lastModifiedBy>mama</cp:lastModifiedBy>
  <cp:revision>8</cp:revision>
  <dcterms:created xsi:type="dcterms:W3CDTF">2026-04-14T11:53:01Z</dcterms:created>
  <dcterms:modified xsi:type="dcterms:W3CDTF">2026-06-24T14:01:08Z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0x010100A50E57B6A70C2C4F81D4851A8035B316</vt:lpwstr>
  </property>
</Properties>
</file>