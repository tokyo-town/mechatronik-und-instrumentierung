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6" r:id="rId5"/>
    <p:sldId id="262" r:id="rId6"/>
    <p:sldId id="263" r:id="rId7"/>
    <p:sldId id="259" r:id="rId8"/>
    <p:sldId id="258" r:id="rId9"/>
    <p:sldId id="264" r:id="rId10"/>
    <p:sldId id="268" r:id="rId11"/>
    <p:sldId id="260" r:id="rId12"/>
    <p:sldId id="261" r:id="rId13"/>
    <p:sldId id="267" r:id="rId14"/>
    <p:sldId id="266" r:id="rId15"/>
    <p:sldId id="265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EF1FCE-671E-2D3E-D7C4-D33094EC0BA0}" v="145" dt="2026-04-14T22:14:43.919"/>
    <p1510:client id="{4B1657A0-7F9D-4481-BC6A-BD4D173B9C67}" v="5" dt="2026-04-14T14:46:02.364"/>
    <p1510:client id="{62CDE31E-2C6A-EB19-9E59-42592899A2F7}" v="338" dt="2026-04-14T20:45:52.706"/>
    <p1510:client id="{EB445C97-5035-DF45-A4CF-E784822BC140}" v="1235" dt="2026-04-14T15:30:19.3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06786D-0DD6-4548-9025-8F3EEAC70B60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602B97-78FF-9D49-BD79-7167099C01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789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602B97-78FF-9D49-BD79-7167099C01A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294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176-4895-AD62-FCF6-2B6F88E8B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2AB4D0-E026-E940-9A05-D38CCBA76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EFB15B-5E35-9B93-6FE7-9CD1F42C3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F0C4FD-30AC-5677-B1A3-62C597C01D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602B97-78FF-9D49-BD79-7167099C01A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699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295554-7CEF-C125-330D-21BC25BDA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92CDD82-9D8E-D7F9-8E98-4C721B8DC6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7C14C2-FCA2-8927-076C-F62E5AF13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148D90-461F-0AD4-BD8F-47FE8DFE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FA1C39-108A-A731-1B74-844AF0EC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59652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11B3B7-B165-6FF2-16BE-EA6FAD58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4C0F54-B5E9-3AB2-EB8F-E92462CC3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D24193-3B2E-04FF-4734-AA9918D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3BE9E-B6A3-B30F-FFD3-AAFF98436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A803F9-1E87-E8A4-388F-0110949E4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73755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5AE26-CB62-DB1B-6572-9DBCB3526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E4C988-A4A1-4FE2-0A36-F2308F7562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53CE47-9A28-7222-00CC-CA48C6957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575E87-FD9B-72D2-23D6-74014590D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D8FE94-F7B8-D5C5-9F89-0948D1F3A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8752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A60F6-CA60-5697-ABCE-B96C0584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2CCBF-769C-5DC6-676C-95F9C6D0A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821E53-819D-5276-76F3-0EA96869D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AD254E-7301-EF6D-24D7-4D88B0A8D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4E31F3F-597E-963E-1455-FA49BA19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AEE992-2C32-C725-9C9D-235F9737A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10691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2CAAE-0A95-442C-4A28-6F1351FB4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9EBB46-8D80-A8C2-B2DA-039FBF2C2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157CF1-E4CD-0525-2C4D-6D060251D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E9F136C-FD79-9D33-06B0-E6CDFC8B7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3CF46DD-B2BE-86F5-C138-43EA542962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D6FE579-D462-7414-CCFE-223A2802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1E839FF-0CBC-14A1-5803-D17686BF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36BB022-C441-2670-ECF4-E2778523C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63656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DB531-DB7E-7B14-1FE8-EAFD669F2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6121172-B237-3F2C-8B74-1FD762494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1A06121-FF2D-86B5-764E-D0A40F515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F2AA55-396B-B020-A2E9-757E7B1C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9270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5BC7B6F-ADA4-2923-B606-EFC74A450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2984419-3960-0462-F0EF-503E76636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0FC70E-DAAA-76E4-A4FC-3F6AFE460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12832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ACE3D-8DB0-9BC8-CA30-F49FB773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CB285E-81F9-D31C-EADB-8B1FB8F7E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0E0D5E-4C07-5540-A2BD-BCB9A4C9F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57A56AE-F6CF-ED32-8116-5B5B491B5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C088EB-C04C-0756-6584-208343B2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30E936-C1D6-2D8D-1EB2-AA5861403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029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BDB9-5151-DF04-926B-B279B4CA3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7928B7-016A-E20A-3A20-53F0BFF83E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C5905C-D67D-BDEC-BF2D-6CA5BA5FE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E4B4D1-F59B-E60B-AD99-2BCC473A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C61FD8-5A23-4113-89A6-300920516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2595F6-39E4-4C17-3A03-01748ADD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2346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56C5DE-2D12-EA4A-BEE4-8605A994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A9A583-7751-5B8A-BEDB-C65537BD9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F3D317-A8B2-BB51-51F3-0B900CA79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9EBCEE-4292-2CD1-9A04-C6C94C343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AB6F8-5725-4FB7-45AC-B5D89545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3069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9FA1C69-B224-B22A-D577-C2FD9CE2F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AA4E383-E913-52F9-E8AF-2B0A7C839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19A5F0-377B-BCAB-B91E-6DC5C136E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7DCED1-A571-43DA-BDEA-D01935E63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237A02-967B-827B-DC8F-E4A41705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298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348838-D62E-2F92-1581-6F1184FE4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BCE3D7-1106-73F6-AE57-543143774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18C573-A54E-4CFE-B8AC-BE0C6D449A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A28B84-4C74-46B6-BCE3-7481A539CFFB}" type="datetimeFigureOut">
              <a:rPr lang="de-AT" smtClean="0"/>
              <a:t>23.04.2026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08A0E2-423E-9256-8094-3553BB9984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4E522C-02A5-C505-31CE-E7299151D7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D68C6-C72A-49FF-8A4F-681FAD77E04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50902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Color Cover">
            <a:extLst>
              <a:ext uri="{FF2B5EF4-FFF2-40B4-BE49-F238E27FC236}">
                <a16:creationId xmlns:a16="http://schemas.microsoft.com/office/drawing/2014/main" id="{8B2B1708-8CE4-4A20-94F5-55118AE2C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3E84BE2F-C43D-43D9-A96D-152600326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1036" name="Color">
              <a:extLst>
                <a:ext uri="{FF2B5EF4-FFF2-40B4-BE49-F238E27FC236}">
                  <a16:creationId xmlns:a16="http://schemas.microsoft.com/office/drawing/2014/main" id="{E7400609-3385-4926-AD61-85A199F07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7" name="Color">
              <a:extLst>
                <a:ext uri="{FF2B5EF4-FFF2-40B4-BE49-F238E27FC236}">
                  <a16:creationId xmlns:a16="http://schemas.microsoft.com/office/drawing/2014/main" id="{9E9E1A20-C3CA-40B4-8D3A-3EAC12D69A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tx2">
                <a:lumMod val="10000"/>
                <a:lumOff val="90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6" name="Picture 2" descr="TUWien logo">
            <a:extLst>
              <a:ext uri="{FF2B5EF4-FFF2-40B4-BE49-F238E27FC236}">
                <a16:creationId xmlns:a16="http://schemas.microsoft.com/office/drawing/2014/main" id="{421A2D85-5607-F903-3AFA-F03A97EC8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8885" y="509772"/>
            <a:ext cx="1175559" cy="117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9C8683B-FE34-26B8-A126-202F393292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1" t="21136" r="17656" b="19268"/>
          <a:stretch>
            <a:fillRect/>
          </a:stretch>
        </p:blipFill>
        <p:spPr>
          <a:xfrm>
            <a:off x="6739615" y="100916"/>
            <a:ext cx="4145711" cy="2773424"/>
          </a:xfrm>
          <a:prstGeom prst="rect">
            <a:avLst/>
          </a:prstGeom>
        </p:spPr>
      </p:pic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E27AF472-EAE3-4572-AB69-B92BD10DB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BF4DB9D2-6215-420C-874C-82EADF8C6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1F003139-C97C-44FA-B139-32E4DFDCE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E4DD6E-8CEA-45EE-B630-DBC22144D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4372F7F-AA3C-470B-AA61-7C35B7722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34B605BF-D199-43DD-9328-E99F2ADFC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E5D42A77-7336-4A35-8922-8098A16AA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7401EE7D-B85D-4C10-AB8C-71884EFB1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2C7E1B7-AD7A-8124-DC87-016AA2029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2644" y="854487"/>
            <a:ext cx="4879001" cy="2056468"/>
          </a:xfrm>
        </p:spPr>
        <p:txBody>
          <a:bodyPr anchor="b">
            <a:normAutofit/>
          </a:bodyPr>
          <a:lstStyle/>
          <a:p>
            <a:pPr algn="l"/>
            <a:r>
              <a:rPr lang="de-AT">
                <a:solidFill>
                  <a:schemeClr val="bg1"/>
                </a:solidFill>
              </a:rPr>
              <a:t>Stepper Motor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7EFEE9-C431-633D-1A45-316386E1D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2644" y="3051222"/>
            <a:ext cx="4879001" cy="2495085"/>
          </a:xfrm>
        </p:spPr>
        <p:txBody>
          <a:bodyPr anchor="t">
            <a:normAutofit/>
          </a:bodyPr>
          <a:lstStyle/>
          <a:p>
            <a:pPr algn="l"/>
            <a:r>
              <a:rPr lang="de-AT" sz="2000" b="1">
                <a:solidFill>
                  <a:schemeClr val="bg1"/>
                </a:solidFill>
              </a:rPr>
              <a:t>Fachvertiefung Mechatronik &amp; Instrumentierung</a:t>
            </a:r>
          </a:p>
          <a:p>
            <a:pPr algn="l"/>
            <a:r>
              <a:rPr lang="de-AT" sz="2000" b="1">
                <a:solidFill>
                  <a:schemeClr val="bg1"/>
                </a:solidFill>
              </a:rPr>
              <a:t>369.013 SS2026</a:t>
            </a:r>
          </a:p>
          <a:p>
            <a:pPr algn="l"/>
            <a:endParaRPr lang="de-AT" sz="2000" b="1">
              <a:solidFill>
                <a:schemeClr val="bg1"/>
              </a:solidFill>
            </a:endParaRPr>
          </a:p>
          <a:p>
            <a:pPr algn="l"/>
            <a:r>
              <a:rPr lang="de-AT" sz="2000">
                <a:solidFill>
                  <a:schemeClr val="bg1"/>
                </a:solidFill>
              </a:rPr>
              <a:t>Darko </a:t>
            </a:r>
            <a:r>
              <a:rPr lang="de-AT" sz="2000" err="1">
                <a:solidFill>
                  <a:schemeClr val="bg1"/>
                </a:solidFill>
              </a:rPr>
              <a:t>Maletic</a:t>
            </a:r>
            <a:br>
              <a:rPr lang="de-AT" sz="2000">
                <a:solidFill>
                  <a:schemeClr val="bg1"/>
                </a:solidFill>
              </a:rPr>
            </a:br>
            <a:r>
              <a:rPr lang="de-AT" sz="2000">
                <a:solidFill>
                  <a:schemeClr val="bg1"/>
                </a:solidFill>
              </a:rPr>
              <a:t>Anton </a:t>
            </a:r>
            <a:r>
              <a:rPr lang="de-AT" sz="2000" err="1">
                <a:solidFill>
                  <a:schemeClr val="bg1"/>
                </a:solidFill>
              </a:rPr>
              <a:t>Krusenotto</a:t>
            </a:r>
            <a:br>
              <a:rPr lang="de-AT" sz="2000">
                <a:solidFill>
                  <a:schemeClr val="bg1"/>
                </a:solidFill>
              </a:rPr>
            </a:br>
            <a:r>
              <a:rPr lang="de-AT" sz="2000">
                <a:solidFill>
                  <a:schemeClr val="bg1"/>
                </a:solidFill>
              </a:rPr>
              <a:t>Heinrich Fuhrmann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25845E1-0CF2-442F-879D-897ED4446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159" y="2910955"/>
            <a:ext cx="5086350" cy="382462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B5506F0-9C6B-D9D1-BB29-AC65B796D13E}"/>
              </a:ext>
            </a:extLst>
          </p:cNvPr>
          <p:cNvSpPr txBox="1"/>
          <p:nvPr/>
        </p:nvSpPr>
        <p:spPr>
          <a:xfrm>
            <a:off x="9979629" y="6108363"/>
            <a:ext cx="905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Tme.eu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4945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507BC-C553-84DB-26D4-242BD748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5C8425-7A7B-3182-9639-F5B8B905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/>
              <a:t>Was ist ein </a:t>
            </a:r>
            <a:r>
              <a:rPr lang="de-AT" sz="3200" err="1"/>
              <a:t>Steppermotor</a:t>
            </a:r>
            <a:r>
              <a:rPr lang="de-AT" sz="3200"/>
              <a:t> (Schrittmotor)?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7259C3-CA1E-3A78-8FED-0B5900CE5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AT"/>
              <a:t>Dreht sich in diskreten Schritten (</a:t>
            </a:r>
            <a:r>
              <a:rPr lang="de-AT" err="1"/>
              <a:t>Steps</a:t>
            </a:r>
            <a:r>
              <a:rPr lang="de-AT"/>
              <a:t>)</a:t>
            </a:r>
          </a:p>
          <a:p>
            <a:pPr lvl="1"/>
            <a:r>
              <a:rPr lang="de-AT"/>
              <a:t>Oft 1,8° pro Schritt (200 Schritte / Umdrehung)</a:t>
            </a:r>
          </a:p>
          <a:p>
            <a:r>
              <a:rPr lang="de-AT"/>
              <a:t>Sehr Präzise Positionierung</a:t>
            </a:r>
          </a:p>
          <a:p>
            <a:r>
              <a:rPr lang="de-AT"/>
              <a:t>Hält seine Position auch im Stillstand</a:t>
            </a:r>
          </a:p>
          <a:p>
            <a:r>
              <a:rPr lang="de-AT"/>
              <a:t>Benötigt keinen Positionssensor / Encoder</a:t>
            </a:r>
          </a:p>
          <a:p>
            <a:pPr lvl="1"/>
            <a:r>
              <a:rPr lang="de-AT"/>
              <a:t>Steuerung ohne Rückkopplung (Open loop)</a:t>
            </a:r>
          </a:p>
          <a:p>
            <a:r>
              <a:rPr lang="de-AT"/>
              <a:t>Verwendet in:</a:t>
            </a:r>
          </a:p>
          <a:p>
            <a:pPr lvl="1"/>
            <a:r>
              <a:rPr lang="de-AT"/>
              <a:t>Drucker</a:t>
            </a:r>
          </a:p>
          <a:p>
            <a:pPr lvl="1"/>
            <a:r>
              <a:rPr lang="de-AT"/>
              <a:t>3D-Drucker</a:t>
            </a:r>
          </a:p>
          <a:p>
            <a:pPr lvl="1"/>
            <a:r>
              <a:rPr lang="de-AT"/>
              <a:t>CNC-Maschinen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AF5CB79-6771-97FD-55C2-5914830996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04" y="1690688"/>
            <a:ext cx="4539796" cy="3413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DA03C62-25A5-DF89-5F8A-0596FFC26C44}"/>
              </a:ext>
            </a:extLst>
          </p:cNvPr>
          <p:cNvSpPr txBox="1"/>
          <p:nvPr/>
        </p:nvSpPr>
        <p:spPr>
          <a:xfrm>
            <a:off x="10722431" y="4634554"/>
            <a:ext cx="1050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err="1"/>
              <a:t>Tme.eu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7319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559C-4846-12BB-500E-BB8CB7C38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7D9EF-A592-3F25-1A78-D32CC0E8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/>
              <a:t>Aufbau und Funktionsweise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4A6F4C1-6AA5-60D5-F232-95929A121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55386"/>
            <a:ext cx="4601112" cy="460111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05D73BF-9469-E81A-8F88-C9E580800D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7" r="6094"/>
          <a:stretch>
            <a:fillRect/>
          </a:stretch>
        </p:blipFill>
        <p:spPr>
          <a:xfrm>
            <a:off x="5997977" y="0"/>
            <a:ext cx="5730231" cy="406822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BC276E0-5204-DC5B-DCC0-E2F54E4B4BEA}"/>
              </a:ext>
            </a:extLst>
          </p:cNvPr>
          <p:cNvSpPr txBox="1"/>
          <p:nvPr/>
        </p:nvSpPr>
        <p:spPr>
          <a:xfrm>
            <a:off x="9885872" y="3429000"/>
            <a:ext cx="2057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about-motors.com</a:t>
            </a:r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67902E0-6A85-057A-796A-8FCC6FA0FC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87"/>
          <a:stretch>
            <a:fillRect/>
          </a:stretch>
        </p:blipFill>
        <p:spPr bwMode="auto">
          <a:xfrm>
            <a:off x="6096000" y="3866465"/>
            <a:ext cx="4867654" cy="287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0DD2992-7298-C8FC-CFB7-A045ED3B5186}"/>
              </a:ext>
            </a:extLst>
          </p:cNvPr>
          <p:cNvSpPr txBox="1"/>
          <p:nvPr/>
        </p:nvSpPr>
        <p:spPr>
          <a:xfrm>
            <a:off x="10231587" y="6356498"/>
            <a:ext cx="182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pulsemotor.com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9368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4D4DC-719E-1DF0-3EAD-FAA15743E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A85385B-25D8-907C-90FF-E44FCA2F25A1}"/>
              </a:ext>
            </a:extLst>
          </p:cNvPr>
          <p:cNvSpPr/>
          <p:nvPr/>
        </p:nvSpPr>
        <p:spPr>
          <a:xfrm>
            <a:off x="5606321" y="1378380"/>
            <a:ext cx="6158959" cy="4182591"/>
          </a:xfrm>
          <a:prstGeom prst="rect">
            <a:avLst/>
          </a:prstGeom>
          <a:solidFill>
            <a:schemeClr val="tx2">
              <a:lumMod val="90000"/>
              <a:lumOff val="10000"/>
              <a:alpha val="23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7ECF1D-29E2-5570-A8CD-5879ECD0B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26" y="229833"/>
            <a:ext cx="10515600" cy="1148547"/>
          </a:xfrm>
        </p:spPr>
        <p:txBody>
          <a:bodyPr>
            <a:normAutofit/>
          </a:bodyPr>
          <a:lstStyle/>
          <a:p>
            <a:r>
              <a:rPr lang="de-AT" sz="3200"/>
              <a:t>Funktion im Drucker</a:t>
            </a:r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22A50CFB-7276-D425-6062-BF5846DD1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131" y="2347486"/>
            <a:ext cx="4897190" cy="3291840"/>
          </a:xfrm>
        </p:spPr>
        <p:txBody>
          <a:bodyPr numCol="1">
            <a:normAutofit/>
          </a:bodyPr>
          <a:lstStyle/>
          <a:p>
            <a:r>
              <a:rPr lang="de-AT" sz="2400"/>
              <a:t>Motor für Papiertransport</a:t>
            </a:r>
          </a:p>
          <a:p>
            <a:endParaRPr lang="de-AT" sz="2400"/>
          </a:p>
          <a:p>
            <a:r>
              <a:rPr lang="de-AT" sz="2400"/>
              <a:t>Anforderungen:</a:t>
            </a:r>
          </a:p>
          <a:p>
            <a:pPr lvl="1"/>
            <a:r>
              <a:rPr lang="de-AT" sz="2000"/>
              <a:t>300 DPI </a:t>
            </a:r>
            <a:r>
              <a:rPr lang="de-AT" sz="2000">
                <a:sym typeface="Wingdings" panose="05000000000000000000" pitchFamily="2" charset="2"/>
              </a:rPr>
              <a:t> 0.085 </a:t>
            </a:r>
            <a:r>
              <a:rPr lang="de-AT" sz="2000"/>
              <a:t>mm Auflösung</a:t>
            </a:r>
          </a:p>
          <a:p>
            <a:pPr lvl="1"/>
            <a:r>
              <a:rPr lang="de-AT" sz="2000"/>
              <a:t>Kontinuierliche Bewegung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03419EB-599E-C798-1833-24C28449E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541" y="1603458"/>
            <a:ext cx="5749911" cy="1021793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FA3F1020-5D23-BDDA-022D-21E113DE83DC}"/>
              </a:ext>
            </a:extLst>
          </p:cNvPr>
          <p:cNvSpPr/>
          <p:nvPr/>
        </p:nvSpPr>
        <p:spPr>
          <a:xfrm>
            <a:off x="6043201" y="2142905"/>
            <a:ext cx="848360" cy="393151"/>
          </a:xfrm>
          <a:prstGeom prst="rect">
            <a:avLst/>
          </a:prstGeom>
          <a:noFill/>
          <a:ln w="412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D3E3AB3-E22D-C80D-6ECE-1A6610C928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286" y="2983580"/>
            <a:ext cx="3008166" cy="2256125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0AEEF6-8A48-EC2A-E233-9E6FFCC9F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80000"/>
                    </a14:imgEffect>
                    <a14:imgEffect>
                      <a14:brightnessContrast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541" y="2983580"/>
            <a:ext cx="2381135" cy="2256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446801-424B-E8D9-EF94-B697D2EF83D7}"/>
              </a:ext>
            </a:extLst>
          </p:cNvPr>
          <p:cNvSpPr/>
          <p:nvPr/>
        </p:nvSpPr>
        <p:spPr>
          <a:xfrm>
            <a:off x="7548304" y="2617099"/>
            <a:ext cx="4043680" cy="4076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AT" sz="1600" i="1">
                <a:solidFill>
                  <a:schemeClr val="tx1"/>
                </a:solidFill>
              </a:rPr>
              <a:t>Auszug Datenblatt </a:t>
            </a:r>
            <a:r>
              <a:rPr lang="de-AT" sz="1600" i="1" err="1">
                <a:solidFill>
                  <a:schemeClr val="tx1"/>
                </a:solidFill>
              </a:rPr>
              <a:t>Mitsumi</a:t>
            </a:r>
            <a:r>
              <a:rPr lang="de-AT" sz="1600" i="1">
                <a:solidFill>
                  <a:schemeClr val="tx1"/>
                </a:solidFill>
              </a:rPr>
              <a:t> M42SP-7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60D966C-7F58-8A9A-44CA-FB6135C6D45A}"/>
              </a:ext>
            </a:extLst>
          </p:cNvPr>
          <p:cNvSpPr/>
          <p:nvPr/>
        </p:nvSpPr>
        <p:spPr>
          <a:xfrm>
            <a:off x="8442959" y="5198220"/>
            <a:ext cx="3243039" cy="44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AT" sz="1600" i="1">
                <a:solidFill>
                  <a:schemeClr val="tx1"/>
                </a:solidFill>
              </a:rPr>
              <a:t>Laserdrucker Brother FAX-8360P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BE78415-AAEE-99C0-C58E-9CD92413BAEB}"/>
              </a:ext>
            </a:extLst>
          </p:cNvPr>
          <p:cNvSpPr/>
          <p:nvPr/>
        </p:nvSpPr>
        <p:spPr>
          <a:xfrm>
            <a:off x="5819541" y="5198220"/>
            <a:ext cx="2436170" cy="3627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AT" sz="1600" i="1">
                <a:solidFill>
                  <a:schemeClr val="tx1"/>
                </a:solidFill>
              </a:rPr>
              <a:t>Laserdrucker Schema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CAC5218-DC25-0459-6C71-6CB76AC677A6}"/>
              </a:ext>
            </a:extLst>
          </p:cNvPr>
          <p:cNvSpPr/>
          <p:nvPr/>
        </p:nvSpPr>
        <p:spPr>
          <a:xfrm>
            <a:off x="8963119" y="3521259"/>
            <a:ext cx="1402080" cy="1402080"/>
          </a:xfrm>
          <a:prstGeom prst="ellipse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ECB1E08-2B9A-0BB3-8536-6C07E8470AFD}"/>
              </a:ext>
            </a:extLst>
          </p:cNvPr>
          <p:cNvSpPr/>
          <p:nvPr/>
        </p:nvSpPr>
        <p:spPr>
          <a:xfrm>
            <a:off x="8442959" y="2950932"/>
            <a:ext cx="426720" cy="426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AT" sz="2800" b="1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159764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BF3E04-FF1A-25E9-85A3-65D9C241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5174FC49-FA0B-CB63-778B-1CC2AD2F0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1" y="1512253"/>
            <a:ext cx="10622949" cy="4958039"/>
          </a:xfrm>
          <a:prstGeom prst="rect">
            <a:avLst/>
          </a:prstGeom>
        </p:spPr>
      </p:pic>
      <p:sp>
        <p:nvSpPr>
          <p:cNvPr id="6" name="Titel 1">
            <a:extLst>
              <a:ext uri="{FF2B5EF4-FFF2-40B4-BE49-F238E27FC236}">
                <a16:creationId xmlns:a16="http://schemas.microsoft.com/office/drawing/2014/main" id="{726FD6BF-49E0-EE0C-B982-2ABF254AA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AT" sz="3200"/>
              <a:t>Betriebsparameter unseres Motors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8FCA212-6A8A-F2E5-C391-A4172A6ACD38}"/>
              </a:ext>
            </a:extLst>
          </p:cNvPr>
          <p:cNvSpPr/>
          <p:nvPr/>
        </p:nvSpPr>
        <p:spPr>
          <a:xfrm>
            <a:off x="7671469" y="6419492"/>
            <a:ext cx="4043680" cy="758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AT" sz="1600" i="1">
                <a:solidFill>
                  <a:schemeClr val="tx1"/>
                </a:solidFill>
              </a:rPr>
              <a:t>Auszug Datenblatt </a:t>
            </a:r>
            <a:r>
              <a:rPr lang="de-AT" sz="1600" i="1" err="1">
                <a:solidFill>
                  <a:schemeClr val="tx1"/>
                </a:solidFill>
              </a:rPr>
              <a:t>Mitsumi</a:t>
            </a:r>
            <a:r>
              <a:rPr lang="de-AT" sz="1600" i="1">
                <a:solidFill>
                  <a:schemeClr val="tx1"/>
                </a:solidFill>
              </a:rPr>
              <a:t> M42SP-7</a:t>
            </a:r>
          </a:p>
        </p:txBody>
      </p:sp>
    </p:spTree>
    <p:extLst>
      <p:ext uri="{BB962C8B-B14F-4D97-AF65-F5344CB8AC3E}">
        <p14:creationId xmlns:p14="http://schemas.microsoft.com/office/powerpoint/2010/main" val="84974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602405-907B-1052-37E4-21DCB927B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/>
              <a:t>Vollschrittbetrieb (</a:t>
            </a:r>
            <a:r>
              <a:rPr lang="de-DE" sz="3200" err="1"/>
              <a:t>Fullstep</a:t>
            </a:r>
            <a:r>
              <a:rPr lang="de-DE" sz="3200"/>
              <a:t>) - eine Spule</a:t>
            </a:r>
          </a:p>
        </p:txBody>
      </p: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F459B897-9F4B-7920-CE2A-FCC41D2EC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321502"/>
              </p:ext>
            </p:extLst>
          </p:nvPr>
        </p:nvGraphicFramePr>
        <p:xfrm>
          <a:off x="2011680" y="4466115"/>
          <a:ext cx="81686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728">
                  <a:extLst>
                    <a:ext uri="{9D8B030D-6E8A-4147-A177-3AD203B41FA5}">
                      <a16:colId xmlns:a16="http://schemas.microsoft.com/office/drawing/2014/main" val="3114107707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1510058525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2361083018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3316142466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934608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Schritt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37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7165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5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34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985865"/>
                  </a:ext>
                </a:extLst>
              </a:tr>
            </a:tbl>
          </a:graphicData>
        </a:graphic>
      </p:graphicFrame>
      <p:pic>
        <p:nvPicPr>
          <p:cNvPr id="14" name="Grafik 13" descr="Microcontroller Interfaces | Stepper Motors | DesignSpark">
            <a:extLst>
              <a:ext uri="{FF2B5EF4-FFF2-40B4-BE49-F238E27FC236}">
                <a16:creationId xmlns:a16="http://schemas.microsoft.com/office/drawing/2014/main" id="{F34AD589-87B6-E615-7470-EB243F33FB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4" t="2706" r="1961" b="76653"/>
          <a:stretch>
            <a:fillRect/>
          </a:stretch>
        </p:blipFill>
        <p:spPr>
          <a:xfrm>
            <a:off x="2097360" y="1557197"/>
            <a:ext cx="8002810" cy="227489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274876B-187F-EF32-98FA-6CAE2CFA092D}"/>
              </a:ext>
            </a:extLst>
          </p:cNvPr>
          <p:cNvSpPr txBox="1"/>
          <p:nvPr/>
        </p:nvSpPr>
        <p:spPr>
          <a:xfrm>
            <a:off x="8404087" y="3837608"/>
            <a:ext cx="191052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+mn-lt"/>
                <a:cs typeface="+mn-lt"/>
              </a:rPr>
              <a:t>rs-online.com</a:t>
            </a:r>
            <a:endParaRPr lang="de-DE">
              <a:ea typeface="+mn-lt"/>
              <a:cs typeface="+mn-lt"/>
            </a:endParaRPr>
          </a:p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7708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79C0E-8647-09A6-DF97-519C50EB6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/>
              <a:t>Vollschrittbetrieb (</a:t>
            </a:r>
            <a:r>
              <a:rPr lang="de-DE" sz="3200" err="1"/>
              <a:t>Fullstep</a:t>
            </a:r>
            <a:r>
              <a:rPr lang="de-DE" sz="3200"/>
              <a:t>) - zwei Spulen</a:t>
            </a:r>
            <a:endParaRPr lang="de-DE"/>
          </a:p>
        </p:txBody>
      </p:sp>
      <p:pic>
        <p:nvPicPr>
          <p:cNvPr id="7" name="Grafik 6" descr="Microcontroller Interfaces | Stepper Motors | DesignSpark">
            <a:extLst>
              <a:ext uri="{FF2B5EF4-FFF2-40B4-BE49-F238E27FC236}">
                <a16:creationId xmlns:a16="http://schemas.microsoft.com/office/drawing/2014/main" id="{E9265EAF-F859-2DD2-5824-CFAF5394EC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0" t="26984" r="2314" b="51167"/>
          <a:stretch>
            <a:fillRect/>
          </a:stretch>
        </p:blipFill>
        <p:spPr>
          <a:xfrm>
            <a:off x="2088308" y="1501913"/>
            <a:ext cx="8028271" cy="2408043"/>
          </a:xfrm>
          <a:prstGeom prst="rect">
            <a:avLst/>
          </a:prstGeom>
        </p:spPr>
      </p:pic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5C8A3BEE-B5C0-E3D1-EB6D-BD66A9FDD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202104"/>
              </p:ext>
            </p:extLst>
          </p:nvPr>
        </p:nvGraphicFramePr>
        <p:xfrm>
          <a:off x="2011680" y="4466115"/>
          <a:ext cx="81686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728">
                  <a:extLst>
                    <a:ext uri="{9D8B030D-6E8A-4147-A177-3AD203B41FA5}">
                      <a16:colId xmlns:a16="http://schemas.microsoft.com/office/drawing/2014/main" val="3114107707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1510058525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2361083018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3316142466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934608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Schritt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37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7165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5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34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985865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AD5485ED-B2EC-5131-4A4E-9A76E2E12EE4}"/>
              </a:ext>
            </a:extLst>
          </p:cNvPr>
          <p:cNvSpPr txBox="1"/>
          <p:nvPr/>
        </p:nvSpPr>
        <p:spPr>
          <a:xfrm>
            <a:off x="8304696" y="3903869"/>
            <a:ext cx="180008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rs-online.com</a:t>
            </a:r>
          </a:p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2938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37184-14C5-FF1A-ED78-0898A5E8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/>
              <a:t>Zwischenschrittbetrieb (</a:t>
            </a:r>
            <a:r>
              <a:rPr lang="de-AT" sz="3200" err="1"/>
              <a:t>Halfstep</a:t>
            </a:r>
            <a:r>
              <a:rPr lang="de-AT" sz="3200"/>
              <a:t>)</a:t>
            </a:r>
            <a:endParaRPr lang="de-AT" sz="3600"/>
          </a:p>
        </p:txBody>
      </p:sp>
      <p:pic>
        <p:nvPicPr>
          <p:cNvPr id="12" name="Grafik 11" descr="Microcontroller Interfaces | Stepper Motors | DesignSpark">
            <a:extLst>
              <a:ext uri="{FF2B5EF4-FFF2-40B4-BE49-F238E27FC236}">
                <a16:creationId xmlns:a16="http://schemas.microsoft.com/office/drawing/2014/main" id="{A7115790-C40B-6969-4F31-90D8735F4E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22" t="51121" r="2680" b="27570"/>
          <a:stretch>
            <a:fillRect/>
          </a:stretch>
        </p:blipFill>
        <p:spPr>
          <a:xfrm>
            <a:off x="1882684" y="1463709"/>
            <a:ext cx="8120581" cy="2348506"/>
          </a:xfrm>
          <a:prstGeom prst="rect">
            <a:avLst/>
          </a:prstGeom>
        </p:spPr>
      </p:pic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669ABEE-9DC4-0B84-7AB7-B7C4F6E96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402721"/>
              </p:ext>
            </p:extLst>
          </p:nvPr>
        </p:nvGraphicFramePr>
        <p:xfrm>
          <a:off x="2011680" y="4466115"/>
          <a:ext cx="81686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728">
                  <a:extLst>
                    <a:ext uri="{9D8B030D-6E8A-4147-A177-3AD203B41FA5}">
                      <a16:colId xmlns:a16="http://schemas.microsoft.com/office/drawing/2014/main" val="3114107707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1510058525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2361083018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3316142466"/>
                    </a:ext>
                  </a:extLst>
                </a:gridCol>
                <a:gridCol w="1633728">
                  <a:extLst>
                    <a:ext uri="{9D8B030D-6E8A-4147-A177-3AD203B41FA5}">
                      <a16:colId xmlns:a16="http://schemas.microsoft.com/office/drawing/2014/main" val="934608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Schritt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B'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37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7165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5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34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985865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6FED8850-27D0-C579-0F67-4091E1344391}"/>
              </a:ext>
            </a:extLst>
          </p:cNvPr>
          <p:cNvSpPr txBox="1"/>
          <p:nvPr/>
        </p:nvSpPr>
        <p:spPr>
          <a:xfrm>
            <a:off x="8116957" y="3815522"/>
            <a:ext cx="1778000" cy="657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rs-online.com</a:t>
            </a:r>
          </a:p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2172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151A45-DC40-8362-D7C0-2C77F0AAE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 err="1"/>
              <a:t>Microstepping</a:t>
            </a:r>
            <a:endParaRPr lang="de-AT" sz="320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0A362B0-8927-1FFF-2CEA-282B645C0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957" y="1529522"/>
            <a:ext cx="10171043" cy="40639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77495567-D6D5-0BD5-9FFA-4F8FC860E3E5}"/>
              </a:ext>
            </a:extLst>
          </p:cNvPr>
          <p:cNvSpPr txBox="1"/>
          <p:nvPr/>
        </p:nvSpPr>
        <p:spPr>
          <a:xfrm>
            <a:off x="9284220" y="5579477"/>
            <a:ext cx="1634422" cy="36933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de-DE">
                <a:ea typeface="+mn-lt"/>
                <a:cs typeface="+mn-lt"/>
              </a:rPr>
              <a:t>hackaday.com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FD37ED4-CCED-4802-9F8F-858683D176BD}"/>
              </a:ext>
            </a:extLst>
          </p:cNvPr>
          <p:cNvSpPr txBox="1"/>
          <p:nvPr/>
        </p:nvSpPr>
        <p:spPr>
          <a:xfrm>
            <a:off x="1005193" y="6073747"/>
            <a:ext cx="101811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>
                <a:ea typeface="+mn-lt"/>
                <a:cs typeface="+mn-lt"/>
              </a:rPr>
              <a:t>Beide Signale mit PWM erzeugbar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44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E6611-D4E5-BD01-1CDA-7EE4C60E7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F33CA79-DFCE-E852-8D51-72AD24E9D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733" y="2171699"/>
            <a:ext cx="6350000" cy="30734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2868BCF-98F9-C6FD-C8EF-98E4E0BE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/>
              <a:t>Unipolare Schrittmotoren (5 Pins)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17391E1-D897-A77B-7769-E7094FFEE00D}"/>
              </a:ext>
            </a:extLst>
          </p:cNvPr>
          <p:cNvSpPr txBox="1"/>
          <p:nvPr/>
        </p:nvSpPr>
        <p:spPr>
          <a:xfrm>
            <a:off x="9582394" y="5060433"/>
            <a:ext cx="266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omc-stepperonline.com</a:t>
            </a:r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1700C68-EC2B-7555-0B53-D1F47C59E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16" y="1581149"/>
            <a:ext cx="4847167" cy="484716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28A4BAC-8EC0-63B3-767C-B8F229C07CA3}"/>
              </a:ext>
            </a:extLst>
          </p:cNvPr>
          <p:cNvSpPr txBox="1"/>
          <p:nvPr/>
        </p:nvSpPr>
        <p:spPr>
          <a:xfrm>
            <a:off x="3386667" y="50604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err="1"/>
              <a:t>Indiamart.com</a:t>
            </a:r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7BAFAD3-FFF8-8589-6D59-5853F83B4190}"/>
              </a:ext>
            </a:extLst>
          </p:cNvPr>
          <p:cNvSpPr txBox="1"/>
          <p:nvPr/>
        </p:nvSpPr>
        <p:spPr>
          <a:xfrm>
            <a:off x="5977467" y="57443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Es muss nur die Low-</a:t>
            </a:r>
            <a:r>
              <a:rPr lang="de-DE" err="1"/>
              <a:t>side</a:t>
            </a:r>
            <a:r>
              <a:rPr lang="de-DE"/>
              <a:t> geschaltet werden.</a:t>
            </a:r>
          </a:p>
        </p:txBody>
      </p:sp>
    </p:spTree>
    <p:extLst>
      <p:ext uri="{BB962C8B-B14F-4D97-AF65-F5344CB8AC3E}">
        <p14:creationId xmlns:p14="http://schemas.microsoft.com/office/powerpoint/2010/main" val="298948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4844-33BD-651B-3B36-6CBC15CD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29765C45-B7DE-680D-F1D1-ACE38794B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4864" y="1867410"/>
            <a:ext cx="5291667" cy="4286250"/>
          </a:xfr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A229151-4730-9150-32E1-68231E4F570F}"/>
              </a:ext>
            </a:extLst>
          </p:cNvPr>
          <p:cNvSpPr txBox="1"/>
          <p:nvPr/>
        </p:nvSpPr>
        <p:spPr>
          <a:xfrm>
            <a:off x="5989622" y="5877461"/>
            <a:ext cx="2096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industrial.omron.at</a:t>
            </a:r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67C1FD4-6F78-C5DA-2DFA-AABECA6712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9565" y="1233488"/>
            <a:ext cx="3993193" cy="3993193"/>
          </a:xfrm>
          <a:prstGeom prst="rect">
            <a:avLst/>
          </a:prstGeom>
        </p:spPr>
      </p:pic>
      <p:sp>
        <p:nvSpPr>
          <p:cNvPr id="15" name="Titel 1">
            <a:extLst>
              <a:ext uri="{FF2B5EF4-FFF2-40B4-BE49-F238E27FC236}">
                <a16:creationId xmlns:a16="http://schemas.microsoft.com/office/drawing/2014/main" id="{DE4AF5E5-7172-484D-6642-5D7385798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AT" sz="3200"/>
              <a:t>Oh, ein Schrittmotor!</a:t>
            </a:r>
          </a:p>
        </p:txBody>
      </p:sp>
    </p:spTree>
    <p:extLst>
      <p:ext uri="{BB962C8B-B14F-4D97-AF65-F5344CB8AC3E}">
        <p14:creationId xmlns:p14="http://schemas.microsoft.com/office/powerpoint/2010/main" val="786799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49B8D-933B-F5EC-4154-DCE13EB35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922846-9217-EB72-E542-A600C6948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/>
              <a:t>Verwechslungsgefahr!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1A82BD91-1C56-623A-C0D1-CEE24F0149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85322" y="2113492"/>
            <a:ext cx="5291667" cy="4286250"/>
          </a:xfr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C344531-81DA-8303-71E4-76B4F9CF3454}"/>
              </a:ext>
            </a:extLst>
          </p:cNvPr>
          <p:cNvSpPr txBox="1"/>
          <p:nvPr/>
        </p:nvSpPr>
        <p:spPr>
          <a:xfrm>
            <a:off x="7130080" y="6123543"/>
            <a:ext cx="2096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err="1"/>
              <a:t>industrial.omron.at</a:t>
            </a:r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F272F43-3023-2946-4CC9-0BE032C58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" y="2825773"/>
            <a:ext cx="4539796" cy="341364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8148794-4B9F-27BA-078A-0795D4C5F07E}"/>
              </a:ext>
            </a:extLst>
          </p:cNvPr>
          <p:cNvSpPr txBox="1"/>
          <p:nvPr/>
        </p:nvSpPr>
        <p:spPr>
          <a:xfrm>
            <a:off x="3133200" y="5769639"/>
            <a:ext cx="1050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err="1"/>
              <a:t>Tme.eu</a:t>
            </a:r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BDAC58-F291-E254-D050-B2B1FA401E8A}"/>
              </a:ext>
            </a:extLst>
          </p:cNvPr>
          <p:cNvSpPr txBox="1"/>
          <p:nvPr/>
        </p:nvSpPr>
        <p:spPr>
          <a:xfrm>
            <a:off x="737084" y="1900325"/>
            <a:ext cx="344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u="sng" err="1"/>
              <a:t>Steppermotor</a:t>
            </a:r>
            <a:endParaRPr lang="de-DE" sz="4000" b="1" u="sng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5A24395-3E3C-DF7C-0F8D-C72172BFF901}"/>
              </a:ext>
            </a:extLst>
          </p:cNvPr>
          <p:cNvSpPr txBox="1"/>
          <p:nvPr/>
        </p:nvSpPr>
        <p:spPr>
          <a:xfrm>
            <a:off x="5267324" y="1666416"/>
            <a:ext cx="29276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u="sng"/>
              <a:t>Servomotor</a:t>
            </a:r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0CD5B415-D85F-498E-8CD1-E2E353B58FF7}"/>
              </a:ext>
            </a:extLst>
          </p:cNvPr>
          <p:cNvSpPr txBox="1">
            <a:spLocks/>
          </p:cNvSpPr>
          <p:nvPr/>
        </p:nvSpPr>
        <p:spPr>
          <a:xfrm>
            <a:off x="8873592" y="2471208"/>
            <a:ext cx="32554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/>
              <a:t>BLDC oder PMSM</a:t>
            </a:r>
          </a:p>
          <a:p>
            <a:r>
              <a:rPr lang="de-AT"/>
              <a:t>Encoder</a:t>
            </a:r>
          </a:p>
          <a:p>
            <a:r>
              <a:rPr lang="de-AT"/>
              <a:t>Positionsregelung</a:t>
            </a:r>
          </a:p>
          <a:p>
            <a:r>
              <a:rPr lang="de-AT"/>
              <a:t>Teuer!</a:t>
            </a:r>
          </a:p>
        </p:txBody>
      </p:sp>
    </p:spTree>
    <p:extLst>
      <p:ext uri="{BB962C8B-B14F-4D97-AF65-F5344CB8AC3E}">
        <p14:creationId xmlns:p14="http://schemas.microsoft.com/office/powerpoint/2010/main" val="2011192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0E57B6A70C2C4F81D4851A8035B316" ma:contentTypeVersion="3" ma:contentTypeDescription="Ein neues Dokument erstellen." ma:contentTypeScope="" ma:versionID="be10151afdfb1dbd3eef0288c2be050f">
  <xsd:schema xmlns:xsd="http://www.w3.org/2001/XMLSchema" xmlns:xs="http://www.w3.org/2001/XMLSchema" xmlns:p="http://schemas.microsoft.com/office/2006/metadata/properties" xmlns:ns3="f93473ae-9eff-406c-a52d-5d3c2355ce8c" targetNamespace="http://schemas.microsoft.com/office/2006/metadata/properties" ma:root="true" ma:fieldsID="0e15690149a34d63d374ed85ee08a1c4" ns3:_="">
    <xsd:import namespace="f93473ae-9eff-406c-a52d-5d3c2355ce8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3473ae-9eff-406c-a52d-5d3c2355ce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CAB7B9-D86B-4AD9-8AE3-C14628E49C68}">
  <ds:schemaRefs>
    <ds:schemaRef ds:uri="f93473ae-9eff-406c-a52d-5d3c2355ce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F64DF94-724B-4B75-8145-498D4D324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ED6835-442E-4300-95BD-189D3E25826D}">
  <ds:schemaRefs>
    <ds:schemaRef ds:uri="f93473ae-9eff-406c-a52d-5d3c2355ce8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Breitbild</PresentationFormat>
  <Slides>12</Slides>
  <Notes>2</Notes>
  <HiddenSlides>0</HiddenSlide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3" baseType="lpstr">
      <vt:lpstr>Office</vt:lpstr>
      <vt:lpstr>Stepper Motor</vt:lpstr>
      <vt:lpstr>Was ist ein Steppermotor (Schrittmotor)?</vt:lpstr>
      <vt:lpstr>Aufbau und Funktionsweise</vt:lpstr>
      <vt:lpstr>Funktion im Drucker</vt:lpstr>
      <vt:lpstr>Betriebsparameter unseres Motors</vt:lpstr>
      <vt:lpstr>Vollschrittbetrieb (Fullstep) - eine Spule</vt:lpstr>
      <vt:lpstr>Vollschrittbetrieb (Fullstep) - zwei Spulen</vt:lpstr>
      <vt:lpstr>Zwischenschrittbetrieb (Halfstep)</vt:lpstr>
      <vt:lpstr>Microstepping</vt:lpstr>
      <vt:lpstr>Unipolare Schrittmotoren (5 Pins)</vt:lpstr>
      <vt:lpstr>Oh, ein Schrittmotor!</vt:lpstr>
      <vt:lpstr>Verwechslungsgefahr!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Heinrich Fuhrmann</dc:creator>
  <cp:revision>6</cp:revision>
  <dcterms:created xsi:type="dcterms:W3CDTF">2026-04-14T11:53:01Z</dcterms:created>
  <dcterms:modified xsi:type="dcterms:W3CDTF">2026-04-23T08:58:38Z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0x010100A50E57B6A70C2C4F81D4851A8035B316</vt:lpwstr>
  </property>
</Properties>
</file>